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50" d="100"/>
          <a:sy n="150"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4912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Bonjour, je suis Tom Doguet, concepteur développeur d'applications. Je vous présente le bloc 3 du projet CESIZen : déployer et sécuriser les applications. Trois applications sont concernées : l'API Spring Boot, le front Next.js et l'application mobile Flutter.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Ma présentation suit les trois axes du bloc : le déploiement, la maintenance et la sécurisation, puis un bilan avec les écarts que j'ai moi-même identifiés. Une démonstration des outils de versioning et de ticketing est intégrée aux parties 1 et 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CESIZen, c'est trois applications distinctes dans trois dépôts GitHub. Le principe directeur du bloc 3 : ne pas traiter une application mieux que les autres. Les trois ont exactement la même chaîne : mêmes workflows CI, sécurité, mêmes protections de branche, même ticketing. Contrainte importante à garder en tête : je suis seul sur le projet et sans budget serveur, ce qui explique certains choix que j'assume et documente.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Premier axe : le déploiement.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Voici l'architecture cible et les flux. Le point important : la surface d'exposition est réduite au minimum. Un seul port public, le 443 sur Nginx qui fait office de reverse proxy et porte le TLS. L'API et la base de données ne sont jamais joignables depuis Internet : elles communiquent sur un réseau Docker interne. En production, le port MySQL est même explicitement remis à zéro dans le compose. Les médias sont déportés sur Supabase.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Le versioning, c'est Git avec GitHub. Le modèle de branches : main correspond à la production et reste protégée ; develop est la branche d'intégration où se fait le travail quotidien ; les fonctionnalités et corrections partent de branches courtes fusionnées par pull request. En haut, le cas du hotfix : un bug critique en production ne passe pas par develop, sinon il serait ralenti par le travail en cours. On part directement de main, on corrige, on retague, et surtout on reporte le correctif sur develop pour ne pas le perdre à la release suivante. Les commits suivent la convention Conventional Commits et les versions sont taguées en SemVer.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Démonstration : je montre le ruleset protect-main sur GitHub. Pull request obligatoire, force-push interdit, et surtout des checks de statut requis : le build et les tests, Gitleaks pour les secrets, Trivy pour les CVE. Concrètement, aucun code non testé ni aucune vulnérabilité connue ne peut atteindre main. Une difficulté que j'ai rencontrée et qui vaut le détour : le nom du check à déclarer, c'est le nom du job, pas la chaîne « workflow / job » que l'interface affiche. Avec un mauvais nom, le check reste en attente indéfiniment et bloque le merge — ce qui m'est arrivé et que j'ai dû diagnostiquer.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Ce schéma se lit de haut en bas et suit le workflow Git. Étape 1, je pousse une branche de travail : la CI et le workflow de sécurité se lancent. Étape 2, j'ouvre une pull request : les deux rejouent, et le ruleset impose que les checks soient verts. Étape 3, le merge sur main déclenche en plus le déploiement. Étape 4, un tag déclenche la mise en production versionnée. En bas, deux déclencheurs planifiés indépendants : le cron nocturne qui lance le scan OWASP approfondi, et Dependabot chaque semaine. J'ai séparé les trois workflows délibérément : un scan lent ne doit jamais bloquer un build.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Deux environnements sont réellement en œuvre : le développement en local sous Docker Compose, et la production. Un environnement de recette est conçu mais non déployé, faute d'infrastructure — je l'assume et je le documente plutôt que de faire semblant. Côté ressources : le web est serverless sur Vercel, donc aucun serveur à gérer et zéro coût ; le mobile ne produit qu'un artefact. Le seul poste de coût réel serait le VPS pour l'API, entre 10 et 15 euros par mois. Et les runners GitHub Actions sont gratuits et illimités puisque les dépôts sont publics.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 Chaque application a sa cible de déploiement. Le web passe par l'intégration Git native de Vercel : un push sur main est automatiquement mis en production ; j'ai en plus écrit un workflow de secours manuel avec confirmation, utile si le dashboard Vercel est indisponible. L'API est packagée en image Docker multi-stage, Alpine, utilisateur non-root, poussée sur le registre GitHub. Le job de déploiement SSH est volontairement conditionné par une variable : sans serveur cible, il ne s'exécute pas — la chaîne existe et reste non bloquante. Le mobile produit un APK en artefact. Et pour chacune, j'ai défini la procédure de retour arrière.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Deuxième axe : la maintenance en condition opérationnelle.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Deuxième démonstration : le ticketing. J'utilise GitHub Issues, mais configuré, pas en standard. Trois formulaires guidés avec des champs obligatoires : pour un bug, on ne peut pas ouvrir un ticket sans donner la reproduction, la criticité et l'environnement. Un jeu de labels homogène sur les trois dépôts, et une milestone BL3 qui donne la progression. Deux garde-fous : les issues vierges sont désactivées, et surtout une faille de sécurité ne passe jamais par une issue publique — elle est redirigée vers un advisory privé, sinon on publie la vulnérabilité à tout le monde avant de l'avoir corrigée.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Le cycle de vie d'une issue. Ouverture par formulaire, puis triage : je reproduis, j'investigue en citant le code concerné, je priorise. Si le signalement est recevable, une branche dédiée est créée, la correction passe par une pull request avec CI verte, puis merge, et l'issue est fermée « completed » en étant référencée par la PR. Si elle n'est pas recevable, elle est fermée « not planned » mais toujours avec une justification écrite. La règle que je me suis fixée : jamais d'issue laissée ouverte à vide. Deux cas réels : une montée de version cassante que j'ai fermée puis neutralisée par une règle, et un bug d'authentification que j'ai fermé après avoir vérifié qu'il n'était pas reproductible.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 La maintenance préventive repose sur l'automatisation. Dependabot surveille cinq écosystèmes sur les trois dépôts et ouvre des pull requests chaque semaine. Trivy et Gitleaks tournent à chaque push et chaque nuit ; OWASP Dependency Check fait un scan approfondi de la base NVD la nuit sur l'API. Une CVE critique ou haute corrigible fait échouer la CI, donc bloque le merge. Et ma règle de traitement : une PR Dependabot n'est mergée que si la CI est verte ; une montée majeure cassante est fermée et neutralisée par une règle si elle revient.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Pour que la maintenance soit contractualisable, il faut des engagements chiffrés. J'ai défini quatre niveaux de criticité avec un délai de prise en charge et un délai de résolution visé : une anomalie bloquante, c'est une prise en charge en 4 heures ouvrées et une résolution en 24 heures. Ensuite, la distinction qui compte pour le client : le préventif et le correctif sont dans un forfait mensuel, l'évolutif est facturé au temps passé. Et toute évolution suit le même circuit : une issue avec des critères d'acceptation, un chiffrage, une validation écrite, la livraison par pull request, et la recette prononcée par le client sur la base des critères de l'issue.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 La veille, ce n'est pas seulement lire des blogs. J'ai des sources ciblées par techno et pour la sécurité. Mais surtout, je l'ai outillée : je m'abonne aux dépôts des dépendances critiques et Dependabot matérialise chaque nouvelle version sous forme de pull request déjà testée par la CI. La veille ne dépend donc pas de ma disponibilité. Trois cas concrets traités pendant le projet : les CVE Jackson, l'adoption de Spring Boot 4, et surtout huit CVE de niveau haut sur la version de Next.js que j'utilisais — j'ai basculé en 16.2.10 immédiatement.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Troisième axe : la sécurisation.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 J'en viens à la sécurisation. Le point de départ, c'est une méthode de cotation explicite, pas une intuition. Je cote chaque menace sur deux axes : la probabilité, de 1 à 3, et l'impact, de 1 à 4. La criticité est le produit des deux, puis classée selon cette matrice avec des seuils définis. L'intérêt, c'est que la priorisation devient objective : ce n'est pas moi qui décide que telle menace passe avant une autre, c'est le calcul. Et c'est ce qui justifie l'effort d'automatisation que je vais montrer sur la slide suivante.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Voici les menaces principales avec leur criticité calculée. Le résultat le plus intéressant, et je ne m'y attendais pas au départ : la menace la plus critique n'est pas une faille de mon propre code, c'est la dépendance vulnérable, à 9. C'est exactement ce qui justifie d'avoir mis un scan bloquant plutôt qu'un simple avertissement, et une veille outillée. Ensuite viennent la fuite de secret à 8, traitée par Gitleaks, et les accès non autorisés à 6 : brute-force traité par du rate limiting, IDOR traité par des annotations de contrôle d'accès et une vérification de propriété de la ressource.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Côté chiffrement : les mots de passe sont hachés en BCrypt avec un facteur 12, donc non réversibles — même moi je ne peux pas les lire. Les tokens JWT sont signés en HS256 avec un secret de 256 bits qui vit en variable d'environnement. Point important : ce secret avait été committé avec une valeur par défaut dans le fichier de configuration ; je l'ai détecté, retiré, et fait une rotation — ce qui invalide tous les tokens émis. Côté RGPD : minimisation des données, droit à l'effacement implémenté par un endpoint de suppression avec anonymisation des journaux, traçabilité par les logs d'audit, et notification CNIL sous 72 heures en cas de violation. Un écart que j'assume : le consentement n'est pas historisé en base, je l'ai coté et inscrit au plan d'action.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La sécurité, c'est aussi savoir quoi faire quand elle est prise en défaut. J'ai formalisé une procédure en six étapes : détection, isolation — avec la rotation du secret JWT qui invalide tous les tokens en cas de compromission —, analyse via les journaux d'audit pour délimiter l'impact, correction qui repasse par le circuit normal pull request et CI verte, communication aux utilisateurs, et notification à la CNIL sous 72 heures si des données personnelles sont concernées. Enfin, les bonnes pratiques de développement qui soutiennent tout ça : analyse statique SonarCloud, architecture en couches, commits normalisés, revue par pull request, et une API documentée.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Merci de votre attention, je suis à votre disposition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20040" y="1783080"/>
            <a:ext cx="2743200" cy="73152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CESIZen</a:t>
            </a:r>
            <a:endParaRPr lang="en-US" sz="4000" dirty="0"/>
          </a:p>
        </p:txBody>
      </p:sp>
      <p:sp>
        <p:nvSpPr>
          <p:cNvPr id="4" name="Text 2"/>
          <p:cNvSpPr/>
          <p:nvPr/>
        </p:nvSpPr>
        <p:spPr>
          <a:xfrm>
            <a:off x="320040" y="2468880"/>
            <a:ext cx="2743200" cy="457200"/>
          </a:xfrm>
          <a:prstGeom prst="rect">
            <a:avLst/>
          </a:prstGeom>
          <a:noFill/>
          <a:ln/>
        </p:spPr>
        <p:txBody>
          <a:bodyPr wrap="square" lIns="0" tIns="0" rIns="0" bIns="0" rtlCol="0" anchor="ctr"/>
          <a:lstStyle/>
          <a:p>
            <a:pPr marL="0" indent="0">
              <a:buNone/>
            </a:pPr>
            <a:r>
              <a:rPr lang="en-US" sz="1200" dirty="0">
                <a:solidFill>
                  <a:srgbClr val="A8DADC"/>
                </a:solidFill>
                <a:latin typeface="Calibri" pitchFamily="34" charset="0"/>
                <a:ea typeface="Calibri" pitchFamily="34" charset="-122"/>
                <a:cs typeface="Calibri" pitchFamily="34" charset="-120"/>
              </a:rPr>
              <a:t>Plateforme de bien-être numérique</a:t>
            </a:r>
            <a:endParaRPr lang="en-US" sz="1200" dirty="0"/>
          </a:p>
        </p:txBody>
      </p:sp>
      <p:sp>
        <p:nvSpPr>
          <p:cNvPr id="5" name="Shape 3"/>
          <p:cNvSpPr/>
          <p:nvPr/>
        </p:nvSpPr>
        <p:spPr>
          <a:xfrm>
            <a:off x="3611880" y="1234440"/>
            <a:ext cx="2011680" cy="274320"/>
          </a:xfrm>
          <a:prstGeom prst="roundRect">
            <a:avLst>
              <a:gd name="adj" fmla="val 20000"/>
            </a:avLst>
          </a:prstGeom>
          <a:solidFill>
            <a:srgbClr val="E8F0EB"/>
          </a:solidFill>
          <a:ln w="12700">
            <a:solidFill>
              <a:srgbClr val="E8F0EB"/>
            </a:solidFill>
            <a:prstDash val="solid"/>
          </a:ln>
        </p:spPr>
        <p:txBody>
          <a:bodyPr/>
          <a:lstStyle/>
          <a:p>
            <a:endParaRPr lang="fr-FR"/>
          </a:p>
        </p:txBody>
      </p:sp>
      <p:sp>
        <p:nvSpPr>
          <p:cNvPr id="6" name="Text 4"/>
          <p:cNvSpPr/>
          <p:nvPr/>
        </p:nvSpPr>
        <p:spPr>
          <a:xfrm>
            <a:off x="3611880" y="1234440"/>
            <a:ext cx="2011680" cy="274320"/>
          </a:xfrm>
          <a:prstGeom prst="rect">
            <a:avLst/>
          </a:prstGeom>
          <a:noFill/>
          <a:ln/>
        </p:spPr>
        <p:txBody>
          <a:bodyPr wrap="square" lIns="0" tIns="0" rIns="0" bIns="0" rtlCol="0" anchor="ctr"/>
          <a:lstStyle/>
          <a:p>
            <a:pPr marL="0" indent="0" algn="ctr">
              <a:buNone/>
            </a:pPr>
            <a:r>
              <a:rPr lang="en-US" sz="1000" b="1" dirty="0">
                <a:solidFill>
                  <a:srgbClr val="4B6B59"/>
                </a:solidFill>
                <a:latin typeface="Calibri" pitchFamily="34" charset="0"/>
                <a:ea typeface="Calibri" pitchFamily="34" charset="-122"/>
                <a:cs typeface="Calibri" pitchFamily="34" charset="-120"/>
              </a:rPr>
              <a:t>SOUTENANCE — BLOC 3</a:t>
            </a:r>
            <a:endParaRPr lang="en-US" sz="1000" dirty="0"/>
          </a:p>
        </p:txBody>
      </p:sp>
      <p:sp>
        <p:nvSpPr>
          <p:cNvPr id="7" name="Text 5"/>
          <p:cNvSpPr/>
          <p:nvPr/>
        </p:nvSpPr>
        <p:spPr>
          <a:xfrm>
            <a:off x="3611880" y="1645920"/>
            <a:ext cx="5212080" cy="1005840"/>
          </a:xfrm>
          <a:prstGeom prst="rect">
            <a:avLst/>
          </a:prstGeom>
          <a:noFill/>
          <a:ln/>
        </p:spPr>
        <p:txBody>
          <a:bodyPr wrap="square" lIns="0" tIns="0" rIns="0" bIns="0" rtlCol="0" anchor="ctr"/>
          <a:lstStyle/>
          <a:p>
            <a:pPr marL="0" indent="0">
              <a:lnSpc>
                <a:spcPts val="3000"/>
              </a:lnSpc>
              <a:buNone/>
            </a:pPr>
            <a:r>
              <a:rPr lang="en-US" sz="2600" b="1" dirty="0">
                <a:solidFill>
                  <a:srgbClr val="2C5F4A"/>
                </a:solidFill>
                <a:latin typeface="Calibri" pitchFamily="34" charset="0"/>
                <a:ea typeface="Calibri" pitchFamily="34" charset="-122"/>
                <a:cs typeface="Calibri" pitchFamily="34" charset="-120"/>
              </a:rPr>
              <a:t>Déployer et sécuriser</a:t>
            </a:r>
            <a:endParaRPr lang="en-US" sz="2600" dirty="0"/>
          </a:p>
          <a:p>
            <a:pPr marL="0" indent="0">
              <a:lnSpc>
                <a:spcPts val="3000"/>
              </a:lnSpc>
              <a:buNone/>
            </a:pPr>
            <a:r>
              <a:rPr lang="en-US" sz="2600" b="1" dirty="0">
                <a:solidFill>
                  <a:srgbClr val="2C5F4A"/>
                </a:solidFill>
                <a:latin typeface="Calibri" pitchFamily="34" charset="0"/>
                <a:ea typeface="Calibri" pitchFamily="34" charset="-122"/>
                <a:cs typeface="Calibri" pitchFamily="34" charset="-120"/>
              </a:rPr>
              <a:t>les applications informatiques</a:t>
            </a:r>
            <a:endParaRPr lang="en-US" sz="2600" dirty="0"/>
          </a:p>
        </p:txBody>
      </p:sp>
      <p:sp>
        <p:nvSpPr>
          <p:cNvPr id="8" name="Text 6"/>
          <p:cNvSpPr/>
          <p:nvPr/>
        </p:nvSpPr>
        <p:spPr>
          <a:xfrm>
            <a:off x="3611880" y="2697480"/>
            <a:ext cx="5212080" cy="274320"/>
          </a:xfrm>
          <a:prstGeom prst="rect">
            <a:avLst/>
          </a:prstGeom>
          <a:noFill/>
          <a:ln/>
        </p:spPr>
        <p:txBody>
          <a:bodyPr wrap="square" lIns="0" tIns="0" rIns="0" bIns="0" rtlCol="0" anchor="ctr"/>
          <a:lstStyle/>
          <a:p>
            <a:pPr marL="0" indent="0">
              <a:buNone/>
            </a:pPr>
            <a:r>
              <a:rPr lang="en-US" sz="1200" dirty="0">
                <a:solidFill>
                  <a:srgbClr val="7A9A87"/>
                </a:solidFill>
                <a:latin typeface="Calibri" pitchFamily="34" charset="0"/>
                <a:ea typeface="Calibri" pitchFamily="34" charset="-122"/>
                <a:cs typeface="Calibri" pitchFamily="34" charset="-120"/>
              </a:rPr>
              <a:t>CDA · INFCDAAL3 · 2025-2026</a:t>
            </a:r>
            <a:endParaRPr lang="en-US" sz="1200" dirty="0"/>
          </a:p>
        </p:txBody>
      </p:sp>
      <p:sp>
        <p:nvSpPr>
          <p:cNvPr id="9" name="Shape 7"/>
          <p:cNvSpPr/>
          <p:nvPr/>
        </p:nvSpPr>
        <p:spPr>
          <a:xfrm>
            <a:off x="3611880" y="3154680"/>
            <a:ext cx="5212080" cy="566928"/>
          </a:xfrm>
          <a:prstGeom prst="rect">
            <a:avLst/>
          </a:prstGeom>
          <a:solidFill>
            <a:srgbClr val="F7FAF6"/>
          </a:solidFill>
          <a:ln w="12700">
            <a:solidFill>
              <a:srgbClr val="F7FAF6"/>
            </a:solidFill>
            <a:prstDash val="solid"/>
          </a:ln>
        </p:spPr>
        <p:txBody>
          <a:bodyPr/>
          <a:lstStyle/>
          <a:p>
            <a:endParaRPr lang="fr-FR"/>
          </a:p>
        </p:txBody>
      </p:sp>
      <p:sp>
        <p:nvSpPr>
          <p:cNvPr id="10" name="Shape 8"/>
          <p:cNvSpPr/>
          <p:nvPr/>
        </p:nvSpPr>
        <p:spPr>
          <a:xfrm>
            <a:off x="3611880" y="3154680"/>
            <a:ext cx="54864" cy="566928"/>
          </a:xfrm>
          <a:prstGeom prst="rect">
            <a:avLst/>
          </a:prstGeom>
          <a:solidFill>
            <a:srgbClr val="4B6B59"/>
          </a:solidFill>
          <a:ln w="12700">
            <a:solidFill>
              <a:srgbClr val="4B6B59"/>
            </a:solidFill>
            <a:prstDash val="solid"/>
          </a:ln>
        </p:spPr>
        <p:txBody>
          <a:bodyPr/>
          <a:lstStyle/>
          <a:p>
            <a:endParaRPr lang="fr-FR"/>
          </a:p>
        </p:txBody>
      </p:sp>
      <p:sp>
        <p:nvSpPr>
          <p:cNvPr id="11" name="Text 9"/>
          <p:cNvSpPr/>
          <p:nvPr/>
        </p:nvSpPr>
        <p:spPr>
          <a:xfrm>
            <a:off x="3794760" y="3200400"/>
            <a:ext cx="1828800" cy="201168"/>
          </a:xfrm>
          <a:prstGeom prst="rect">
            <a:avLst/>
          </a:prstGeom>
          <a:noFill/>
          <a:ln/>
        </p:spPr>
        <p:txBody>
          <a:bodyPr wrap="square" lIns="0" tIns="0" rIns="0" bIns="0" rtlCol="0" anchor="ctr"/>
          <a:lstStyle/>
          <a:p>
            <a:pPr marL="0" indent="0">
              <a:buNone/>
            </a:pPr>
            <a:r>
              <a:rPr lang="en-US" sz="850" b="1" dirty="0">
                <a:solidFill>
                  <a:srgbClr val="7A9A87"/>
                </a:solidFill>
                <a:latin typeface="Calibri" pitchFamily="34" charset="0"/>
                <a:ea typeface="Calibri" pitchFamily="34" charset="-122"/>
                <a:cs typeface="Calibri" pitchFamily="34" charset="-120"/>
              </a:rPr>
              <a:t>COMMANDITAIRE</a:t>
            </a:r>
            <a:endParaRPr lang="en-US" sz="850" dirty="0"/>
          </a:p>
        </p:txBody>
      </p:sp>
      <p:sp>
        <p:nvSpPr>
          <p:cNvPr id="12" name="Text 10"/>
          <p:cNvSpPr/>
          <p:nvPr/>
        </p:nvSpPr>
        <p:spPr>
          <a:xfrm>
            <a:off x="3794760" y="3401568"/>
            <a:ext cx="4846320" cy="256032"/>
          </a:xfrm>
          <a:prstGeom prst="rect">
            <a:avLst/>
          </a:prstGeom>
          <a:noFill/>
          <a:ln/>
        </p:spPr>
        <p:txBody>
          <a:bodyPr wrap="square" lIns="0" tIns="0" rIns="0" bIns="0" rtlCol="0" anchor="ctr"/>
          <a:lstStyle/>
          <a:p>
            <a:pPr marL="0" indent="0">
              <a:buNone/>
            </a:pPr>
            <a:r>
              <a:rPr lang="en-US" sz="1200" dirty="0">
                <a:solidFill>
                  <a:srgbClr val="1F2A24"/>
                </a:solidFill>
                <a:latin typeface="Calibri" pitchFamily="34" charset="0"/>
                <a:ea typeface="Calibri" pitchFamily="34" charset="-122"/>
                <a:cs typeface="Calibri" pitchFamily="34" charset="-120"/>
              </a:rPr>
              <a:t>Ministère de la Santé et de la Prévention</a:t>
            </a:r>
            <a:endParaRPr lang="en-US" sz="1200" dirty="0"/>
          </a:p>
        </p:txBody>
      </p:sp>
      <p:sp>
        <p:nvSpPr>
          <p:cNvPr id="13" name="Shape 11"/>
          <p:cNvSpPr/>
          <p:nvPr/>
        </p:nvSpPr>
        <p:spPr>
          <a:xfrm>
            <a:off x="3611880" y="3840480"/>
            <a:ext cx="5212080" cy="566928"/>
          </a:xfrm>
          <a:prstGeom prst="rect">
            <a:avLst/>
          </a:prstGeom>
          <a:solidFill>
            <a:srgbClr val="F7FAF6"/>
          </a:solidFill>
          <a:ln w="12700">
            <a:solidFill>
              <a:srgbClr val="F7FAF6"/>
            </a:solidFill>
            <a:prstDash val="solid"/>
          </a:ln>
        </p:spPr>
        <p:txBody>
          <a:bodyPr/>
          <a:lstStyle/>
          <a:p>
            <a:endParaRPr lang="fr-FR"/>
          </a:p>
        </p:txBody>
      </p:sp>
      <p:sp>
        <p:nvSpPr>
          <p:cNvPr id="14" name="Shape 12"/>
          <p:cNvSpPr/>
          <p:nvPr/>
        </p:nvSpPr>
        <p:spPr>
          <a:xfrm>
            <a:off x="3611880" y="3840480"/>
            <a:ext cx="54864" cy="566928"/>
          </a:xfrm>
          <a:prstGeom prst="rect">
            <a:avLst/>
          </a:prstGeom>
          <a:solidFill>
            <a:srgbClr val="4B6B59"/>
          </a:solidFill>
          <a:ln w="12700">
            <a:solidFill>
              <a:srgbClr val="4B6B59"/>
            </a:solidFill>
            <a:prstDash val="solid"/>
          </a:ln>
        </p:spPr>
        <p:txBody>
          <a:bodyPr/>
          <a:lstStyle/>
          <a:p>
            <a:endParaRPr lang="fr-FR"/>
          </a:p>
        </p:txBody>
      </p:sp>
      <p:sp>
        <p:nvSpPr>
          <p:cNvPr id="15" name="Text 13"/>
          <p:cNvSpPr/>
          <p:nvPr/>
        </p:nvSpPr>
        <p:spPr>
          <a:xfrm>
            <a:off x="3794760" y="3886200"/>
            <a:ext cx="1828800" cy="201168"/>
          </a:xfrm>
          <a:prstGeom prst="rect">
            <a:avLst/>
          </a:prstGeom>
          <a:noFill/>
          <a:ln/>
        </p:spPr>
        <p:txBody>
          <a:bodyPr wrap="square" lIns="0" tIns="0" rIns="0" bIns="0" rtlCol="0" anchor="ctr"/>
          <a:lstStyle/>
          <a:p>
            <a:pPr marL="0" indent="0">
              <a:buNone/>
            </a:pPr>
            <a:r>
              <a:rPr lang="en-US" sz="850" b="1" dirty="0">
                <a:solidFill>
                  <a:srgbClr val="7A9A87"/>
                </a:solidFill>
                <a:latin typeface="Calibri" pitchFamily="34" charset="0"/>
                <a:ea typeface="Calibri" pitchFamily="34" charset="-122"/>
                <a:cs typeface="Calibri" pitchFamily="34" charset="-120"/>
              </a:rPr>
              <a:t>PÉRIMÈTRE</a:t>
            </a:r>
            <a:endParaRPr lang="en-US" sz="850" dirty="0"/>
          </a:p>
        </p:txBody>
      </p:sp>
      <p:sp>
        <p:nvSpPr>
          <p:cNvPr id="16" name="Text 14"/>
          <p:cNvSpPr/>
          <p:nvPr/>
        </p:nvSpPr>
        <p:spPr>
          <a:xfrm>
            <a:off x="3794760" y="4087368"/>
            <a:ext cx="4846320" cy="256032"/>
          </a:xfrm>
          <a:prstGeom prst="rect">
            <a:avLst/>
          </a:prstGeom>
          <a:noFill/>
          <a:ln/>
        </p:spPr>
        <p:txBody>
          <a:bodyPr wrap="square" lIns="0" tIns="0" rIns="0" bIns="0" rtlCol="0" anchor="ctr"/>
          <a:lstStyle/>
          <a:p>
            <a:pPr marL="0" indent="0">
              <a:buNone/>
            </a:pPr>
            <a:r>
              <a:rPr lang="en-US" sz="1200" dirty="0">
                <a:solidFill>
                  <a:srgbClr val="1F2A24"/>
                </a:solidFill>
                <a:latin typeface="Calibri" pitchFamily="34" charset="0"/>
                <a:ea typeface="Calibri" pitchFamily="34" charset="-122"/>
                <a:cs typeface="Calibri" pitchFamily="34" charset="-120"/>
              </a:rPr>
              <a:t>API Spring Boot 4 · Web Next.js 16 · Mobile Flutter 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932688"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93268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SOMMAIRE</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Plan de la présentation</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20 minutes · 3 axes</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6"/>
          <p:cNvSpPr/>
          <p:nvPr/>
        </p:nvSpPr>
        <p:spPr>
          <a:xfrm>
            <a:off x="365760" y="1371600"/>
            <a:ext cx="8412480" cy="731520"/>
          </a:xfrm>
          <a:prstGeom prst="rect">
            <a:avLst/>
          </a:prstGeom>
          <a:solidFill>
            <a:srgbClr val="F7FAF6"/>
          </a:solidFill>
          <a:ln w="12700">
            <a:solidFill>
              <a:srgbClr val="F7FAF6"/>
            </a:solidFill>
            <a:prstDash val="solid"/>
          </a:ln>
        </p:spPr>
        <p:txBody>
          <a:bodyPr/>
          <a:lstStyle/>
          <a:p>
            <a:endParaRPr lang="fr-FR"/>
          </a:p>
        </p:txBody>
      </p:sp>
      <p:sp>
        <p:nvSpPr>
          <p:cNvPr id="9" name="Shape 7"/>
          <p:cNvSpPr/>
          <p:nvPr/>
        </p:nvSpPr>
        <p:spPr>
          <a:xfrm>
            <a:off x="365760" y="1371600"/>
            <a:ext cx="54864" cy="731520"/>
          </a:xfrm>
          <a:prstGeom prst="rect">
            <a:avLst/>
          </a:prstGeom>
          <a:solidFill>
            <a:srgbClr val="4B6B59"/>
          </a:solidFill>
          <a:ln w="12700">
            <a:solidFill>
              <a:srgbClr val="4B6B59"/>
            </a:solidFill>
            <a:prstDash val="solid"/>
          </a:ln>
        </p:spPr>
        <p:txBody>
          <a:bodyPr/>
          <a:lstStyle/>
          <a:p>
            <a:endParaRPr lang="fr-FR"/>
          </a:p>
        </p:txBody>
      </p:sp>
      <p:sp>
        <p:nvSpPr>
          <p:cNvPr id="10" name="Text 8"/>
          <p:cNvSpPr/>
          <p:nvPr/>
        </p:nvSpPr>
        <p:spPr>
          <a:xfrm>
            <a:off x="566928" y="1481328"/>
            <a:ext cx="640080" cy="512064"/>
          </a:xfrm>
          <a:prstGeom prst="rect">
            <a:avLst/>
          </a:prstGeom>
          <a:noFill/>
          <a:ln/>
        </p:spPr>
        <p:txBody>
          <a:bodyPr wrap="square" lIns="0" tIns="0" rIns="0" bIns="0" rtlCol="0" anchor="ctr"/>
          <a:lstStyle/>
          <a:p>
            <a:pPr marL="0" indent="0">
              <a:buNone/>
            </a:pPr>
            <a:r>
              <a:rPr lang="en-US" sz="2800" b="1" dirty="0">
                <a:solidFill>
                  <a:srgbClr val="6BA382"/>
                </a:solidFill>
                <a:latin typeface="Calibri" pitchFamily="34" charset="0"/>
                <a:ea typeface="Calibri" pitchFamily="34" charset="-122"/>
                <a:cs typeface="Calibri" pitchFamily="34" charset="-120"/>
              </a:rPr>
              <a:t>01</a:t>
            </a:r>
            <a:endParaRPr lang="en-US" sz="2800" dirty="0"/>
          </a:p>
        </p:txBody>
      </p:sp>
      <p:sp>
        <p:nvSpPr>
          <p:cNvPr id="11" name="Text 9"/>
          <p:cNvSpPr/>
          <p:nvPr/>
        </p:nvSpPr>
        <p:spPr>
          <a:xfrm>
            <a:off x="1280160" y="1463040"/>
            <a:ext cx="2926080" cy="292608"/>
          </a:xfrm>
          <a:prstGeom prst="rect">
            <a:avLst/>
          </a:prstGeom>
          <a:noFill/>
          <a:ln/>
        </p:spPr>
        <p:txBody>
          <a:bodyPr wrap="square" lIns="0" tIns="0" rIns="0" bIns="0" rtlCol="0" anchor="ctr"/>
          <a:lstStyle/>
          <a:p>
            <a:pPr marL="0" indent="0">
              <a:buNone/>
            </a:pPr>
            <a:r>
              <a:rPr lang="en-US" sz="1600" b="1" dirty="0">
                <a:solidFill>
                  <a:srgbClr val="2C5F4A"/>
                </a:solidFill>
                <a:latin typeface="Calibri" pitchFamily="34" charset="0"/>
                <a:ea typeface="Calibri" pitchFamily="34" charset="-122"/>
                <a:cs typeface="Calibri" pitchFamily="34" charset="-120"/>
              </a:rPr>
              <a:t>Déploiement</a:t>
            </a:r>
            <a:endParaRPr lang="en-US" sz="1600" dirty="0"/>
          </a:p>
        </p:txBody>
      </p:sp>
      <p:sp>
        <p:nvSpPr>
          <p:cNvPr id="12" name="Text 10"/>
          <p:cNvSpPr/>
          <p:nvPr/>
        </p:nvSpPr>
        <p:spPr>
          <a:xfrm>
            <a:off x="1280160" y="1755648"/>
            <a:ext cx="5669280" cy="256032"/>
          </a:xfrm>
          <a:prstGeom prst="rect">
            <a:avLst/>
          </a:prstGeom>
          <a:noFill/>
          <a:ln/>
        </p:spPr>
        <p:txBody>
          <a:bodyPr wrap="square" lIns="0" tIns="0" rIns="0" bIns="0" rtlCol="0" anchor="ctr"/>
          <a:lstStyle/>
          <a:p>
            <a:pPr marL="0" indent="0">
              <a:buNone/>
            </a:pPr>
            <a:r>
              <a:rPr lang="en-US" sz="1150" dirty="0">
                <a:solidFill>
                  <a:srgbClr val="7A9A87"/>
                </a:solidFill>
                <a:latin typeface="Calibri" pitchFamily="34" charset="0"/>
                <a:ea typeface="Calibri" pitchFamily="34" charset="-122"/>
                <a:cs typeface="Calibri" pitchFamily="34" charset="-120"/>
              </a:rPr>
              <a:t>Architecture · versioning · CI/CD · environnements</a:t>
            </a:r>
            <a:endParaRPr lang="en-US" sz="1150" dirty="0"/>
          </a:p>
        </p:txBody>
      </p:sp>
      <p:sp>
        <p:nvSpPr>
          <p:cNvPr id="15" name="Shape 13"/>
          <p:cNvSpPr/>
          <p:nvPr/>
        </p:nvSpPr>
        <p:spPr>
          <a:xfrm>
            <a:off x="365760" y="2212848"/>
            <a:ext cx="8412480" cy="731520"/>
          </a:xfrm>
          <a:prstGeom prst="rect">
            <a:avLst/>
          </a:prstGeom>
          <a:solidFill>
            <a:srgbClr val="F7FAF6"/>
          </a:solidFill>
          <a:ln w="12700">
            <a:solidFill>
              <a:srgbClr val="F7FAF6"/>
            </a:solidFill>
            <a:prstDash val="solid"/>
          </a:ln>
        </p:spPr>
        <p:txBody>
          <a:bodyPr/>
          <a:lstStyle/>
          <a:p>
            <a:endParaRPr lang="fr-FR"/>
          </a:p>
        </p:txBody>
      </p:sp>
      <p:sp>
        <p:nvSpPr>
          <p:cNvPr id="16" name="Shape 14"/>
          <p:cNvSpPr/>
          <p:nvPr/>
        </p:nvSpPr>
        <p:spPr>
          <a:xfrm>
            <a:off x="365760" y="2212848"/>
            <a:ext cx="54864" cy="731520"/>
          </a:xfrm>
          <a:prstGeom prst="rect">
            <a:avLst/>
          </a:prstGeom>
          <a:solidFill>
            <a:srgbClr val="4B6B59"/>
          </a:solidFill>
          <a:ln w="12700">
            <a:solidFill>
              <a:srgbClr val="4B6B59"/>
            </a:solidFill>
            <a:prstDash val="solid"/>
          </a:ln>
        </p:spPr>
        <p:txBody>
          <a:bodyPr/>
          <a:lstStyle/>
          <a:p>
            <a:endParaRPr lang="fr-FR"/>
          </a:p>
        </p:txBody>
      </p:sp>
      <p:sp>
        <p:nvSpPr>
          <p:cNvPr id="17" name="Text 15"/>
          <p:cNvSpPr/>
          <p:nvPr/>
        </p:nvSpPr>
        <p:spPr>
          <a:xfrm>
            <a:off x="566928" y="2322576"/>
            <a:ext cx="640080" cy="512064"/>
          </a:xfrm>
          <a:prstGeom prst="rect">
            <a:avLst/>
          </a:prstGeom>
          <a:noFill/>
          <a:ln/>
        </p:spPr>
        <p:txBody>
          <a:bodyPr wrap="square" lIns="0" tIns="0" rIns="0" bIns="0" rtlCol="0" anchor="ctr"/>
          <a:lstStyle/>
          <a:p>
            <a:pPr marL="0" indent="0">
              <a:buNone/>
            </a:pPr>
            <a:r>
              <a:rPr lang="en-US" sz="2800" b="1" dirty="0">
                <a:solidFill>
                  <a:srgbClr val="6BA382"/>
                </a:solidFill>
                <a:latin typeface="Calibri" pitchFamily="34" charset="0"/>
                <a:ea typeface="Calibri" pitchFamily="34" charset="-122"/>
                <a:cs typeface="Calibri" pitchFamily="34" charset="-120"/>
              </a:rPr>
              <a:t>02</a:t>
            </a:r>
            <a:endParaRPr lang="en-US" sz="2800" dirty="0"/>
          </a:p>
        </p:txBody>
      </p:sp>
      <p:sp>
        <p:nvSpPr>
          <p:cNvPr id="18" name="Text 16"/>
          <p:cNvSpPr/>
          <p:nvPr/>
        </p:nvSpPr>
        <p:spPr>
          <a:xfrm>
            <a:off x="1280160" y="2304288"/>
            <a:ext cx="2926080" cy="292608"/>
          </a:xfrm>
          <a:prstGeom prst="rect">
            <a:avLst/>
          </a:prstGeom>
          <a:noFill/>
          <a:ln/>
        </p:spPr>
        <p:txBody>
          <a:bodyPr wrap="square" lIns="0" tIns="0" rIns="0" bIns="0" rtlCol="0" anchor="ctr"/>
          <a:lstStyle/>
          <a:p>
            <a:pPr marL="0" indent="0">
              <a:buNone/>
            </a:pPr>
            <a:r>
              <a:rPr lang="en-US" sz="1600" b="1" dirty="0">
                <a:solidFill>
                  <a:srgbClr val="2C5F4A"/>
                </a:solidFill>
                <a:latin typeface="Calibri" pitchFamily="34" charset="0"/>
                <a:ea typeface="Calibri" pitchFamily="34" charset="-122"/>
                <a:cs typeface="Calibri" pitchFamily="34" charset="-120"/>
              </a:rPr>
              <a:t>Maintenance</a:t>
            </a:r>
            <a:endParaRPr lang="en-US" sz="1600" dirty="0"/>
          </a:p>
        </p:txBody>
      </p:sp>
      <p:sp>
        <p:nvSpPr>
          <p:cNvPr id="19" name="Text 17"/>
          <p:cNvSpPr/>
          <p:nvPr/>
        </p:nvSpPr>
        <p:spPr>
          <a:xfrm>
            <a:off x="1280160" y="2596896"/>
            <a:ext cx="5669280" cy="256032"/>
          </a:xfrm>
          <a:prstGeom prst="rect">
            <a:avLst/>
          </a:prstGeom>
          <a:noFill/>
          <a:ln/>
        </p:spPr>
        <p:txBody>
          <a:bodyPr wrap="square" lIns="0" tIns="0" rIns="0" bIns="0" rtlCol="0" anchor="ctr"/>
          <a:lstStyle/>
          <a:p>
            <a:pPr marL="0" indent="0">
              <a:buNone/>
            </a:pPr>
            <a:r>
              <a:rPr lang="en-US" sz="1150" dirty="0">
                <a:solidFill>
                  <a:srgbClr val="7A9A87"/>
                </a:solidFill>
                <a:latin typeface="Calibri" pitchFamily="34" charset="0"/>
                <a:ea typeface="Calibri" pitchFamily="34" charset="-122"/>
                <a:cs typeface="Calibri" pitchFamily="34" charset="-120"/>
              </a:rPr>
              <a:t>Ticketing · préventif · SLA · veille technologique</a:t>
            </a:r>
            <a:endParaRPr lang="en-US" sz="1150" dirty="0"/>
          </a:p>
        </p:txBody>
      </p:sp>
      <p:sp>
        <p:nvSpPr>
          <p:cNvPr id="22" name="Shape 20"/>
          <p:cNvSpPr/>
          <p:nvPr/>
        </p:nvSpPr>
        <p:spPr>
          <a:xfrm>
            <a:off x="365760" y="3054096"/>
            <a:ext cx="8412480" cy="731520"/>
          </a:xfrm>
          <a:prstGeom prst="rect">
            <a:avLst/>
          </a:prstGeom>
          <a:solidFill>
            <a:srgbClr val="F7FAF6"/>
          </a:solidFill>
          <a:ln w="12700">
            <a:solidFill>
              <a:srgbClr val="F7FAF6"/>
            </a:solidFill>
            <a:prstDash val="solid"/>
          </a:ln>
        </p:spPr>
        <p:txBody>
          <a:bodyPr/>
          <a:lstStyle/>
          <a:p>
            <a:endParaRPr lang="fr-FR"/>
          </a:p>
        </p:txBody>
      </p:sp>
      <p:sp>
        <p:nvSpPr>
          <p:cNvPr id="23" name="Shape 21"/>
          <p:cNvSpPr/>
          <p:nvPr/>
        </p:nvSpPr>
        <p:spPr>
          <a:xfrm>
            <a:off x="365760" y="3054096"/>
            <a:ext cx="54864" cy="731520"/>
          </a:xfrm>
          <a:prstGeom prst="rect">
            <a:avLst/>
          </a:prstGeom>
          <a:solidFill>
            <a:srgbClr val="4B6B59"/>
          </a:solidFill>
          <a:ln w="12700">
            <a:solidFill>
              <a:srgbClr val="4B6B59"/>
            </a:solidFill>
            <a:prstDash val="solid"/>
          </a:ln>
        </p:spPr>
        <p:txBody>
          <a:bodyPr/>
          <a:lstStyle/>
          <a:p>
            <a:endParaRPr lang="fr-FR"/>
          </a:p>
        </p:txBody>
      </p:sp>
      <p:sp>
        <p:nvSpPr>
          <p:cNvPr id="24" name="Text 22"/>
          <p:cNvSpPr/>
          <p:nvPr/>
        </p:nvSpPr>
        <p:spPr>
          <a:xfrm>
            <a:off x="566928" y="3163824"/>
            <a:ext cx="640080" cy="512064"/>
          </a:xfrm>
          <a:prstGeom prst="rect">
            <a:avLst/>
          </a:prstGeom>
          <a:noFill/>
          <a:ln/>
        </p:spPr>
        <p:txBody>
          <a:bodyPr wrap="square" lIns="0" tIns="0" rIns="0" bIns="0" rtlCol="0" anchor="ctr"/>
          <a:lstStyle/>
          <a:p>
            <a:pPr marL="0" indent="0">
              <a:buNone/>
            </a:pPr>
            <a:r>
              <a:rPr lang="en-US" sz="2800" b="1" dirty="0">
                <a:solidFill>
                  <a:srgbClr val="6BA382"/>
                </a:solidFill>
                <a:latin typeface="Calibri" pitchFamily="34" charset="0"/>
                <a:ea typeface="Calibri" pitchFamily="34" charset="-122"/>
                <a:cs typeface="Calibri" pitchFamily="34" charset="-120"/>
              </a:rPr>
              <a:t>03</a:t>
            </a:r>
            <a:endParaRPr lang="en-US" sz="2800" dirty="0"/>
          </a:p>
        </p:txBody>
      </p:sp>
      <p:sp>
        <p:nvSpPr>
          <p:cNvPr id="25" name="Text 23"/>
          <p:cNvSpPr/>
          <p:nvPr/>
        </p:nvSpPr>
        <p:spPr>
          <a:xfrm>
            <a:off x="1280160" y="3145536"/>
            <a:ext cx="2926080" cy="292608"/>
          </a:xfrm>
          <a:prstGeom prst="rect">
            <a:avLst/>
          </a:prstGeom>
          <a:noFill/>
          <a:ln/>
        </p:spPr>
        <p:txBody>
          <a:bodyPr wrap="square" lIns="0" tIns="0" rIns="0" bIns="0" rtlCol="0" anchor="ctr"/>
          <a:lstStyle/>
          <a:p>
            <a:pPr marL="0" indent="0">
              <a:buNone/>
            </a:pPr>
            <a:r>
              <a:rPr lang="en-US" sz="1600" b="1" dirty="0">
                <a:solidFill>
                  <a:srgbClr val="2C5F4A"/>
                </a:solidFill>
                <a:latin typeface="Calibri" pitchFamily="34" charset="0"/>
                <a:ea typeface="Calibri" pitchFamily="34" charset="-122"/>
                <a:cs typeface="Calibri" pitchFamily="34" charset="-120"/>
              </a:rPr>
              <a:t>Sécurisation</a:t>
            </a:r>
            <a:endParaRPr lang="en-US" sz="1600" dirty="0"/>
          </a:p>
        </p:txBody>
      </p:sp>
      <p:sp>
        <p:nvSpPr>
          <p:cNvPr id="26" name="Text 24"/>
          <p:cNvSpPr/>
          <p:nvPr/>
        </p:nvSpPr>
        <p:spPr>
          <a:xfrm>
            <a:off x="1280160" y="3438144"/>
            <a:ext cx="5669280" cy="256032"/>
          </a:xfrm>
          <a:prstGeom prst="rect">
            <a:avLst/>
          </a:prstGeom>
          <a:noFill/>
          <a:ln/>
        </p:spPr>
        <p:txBody>
          <a:bodyPr wrap="square" lIns="0" tIns="0" rIns="0" bIns="0" rtlCol="0" anchor="ctr"/>
          <a:lstStyle/>
          <a:p>
            <a:pPr marL="0" indent="0">
              <a:buNone/>
            </a:pPr>
            <a:r>
              <a:rPr lang="en-US" sz="1150" dirty="0">
                <a:solidFill>
                  <a:srgbClr val="7A9A87"/>
                </a:solidFill>
                <a:latin typeface="Calibri" pitchFamily="34" charset="0"/>
                <a:ea typeface="Calibri" pitchFamily="34" charset="-122"/>
                <a:cs typeface="Calibri" pitchFamily="34" charset="-120"/>
              </a:rPr>
              <a:t>Risques &amp; criticité · chiffrement · RGPD · crise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932688"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93268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CONTEXTE</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Trois applications, une seule chaîne DevOps</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3 dépôts GitHub · organisation TxMy-Elu</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8" name="Shape 6"/>
          <p:cNvSpPr/>
          <p:nvPr/>
        </p:nvSpPr>
        <p:spPr>
          <a:xfrm>
            <a:off x="365760" y="1371600"/>
            <a:ext cx="2688336" cy="1691640"/>
          </a:xfrm>
          <a:prstGeom prst="rect">
            <a:avLst/>
          </a:prstGeom>
          <a:solidFill>
            <a:srgbClr val="F7FAF6"/>
          </a:solidFill>
          <a:ln w="12700">
            <a:solidFill>
              <a:srgbClr val="F7FAF6"/>
            </a:solidFill>
            <a:prstDash val="solid"/>
          </a:ln>
        </p:spPr>
        <p:txBody>
          <a:bodyPr/>
          <a:lstStyle/>
          <a:p>
            <a:endParaRPr lang="fr-FR"/>
          </a:p>
        </p:txBody>
      </p:sp>
      <p:sp>
        <p:nvSpPr>
          <p:cNvPr id="9" name="Shape 7"/>
          <p:cNvSpPr/>
          <p:nvPr/>
        </p:nvSpPr>
        <p:spPr>
          <a:xfrm>
            <a:off x="365760" y="1371600"/>
            <a:ext cx="54864" cy="1691640"/>
          </a:xfrm>
          <a:prstGeom prst="rect">
            <a:avLst/>
          </a:prstGeom>
          <a:solidFill>
            <a:srgbClr val="4B6B59"/>
          </a:solidFill>
          <a:ln w="12700">
            <a:solidFill>
              <a:srgbClr val="4B6B59"/>
            </a:solidFill>
            <a:prstDash val="solid"/>
          </a:ln>
        </p:spPr>
        <p:txBody>
          <a:bodyPr/>
          <a:lstStyle/>
          <a:p>
            <a:endParaRPr lang="fr-FR"/>
          </a:p>
        </p:txBody>
      </p:sp>
      <p:sp>
        <p:nvSpPr>
          <p:cNvPr id="10" name="Text 8"/>
          <p:cNvSpPr/>
          <p:nvPr/>
        </p:nvSpPr>
        <p:spPr>
          <a:xfrm>
            <a:off x="548640" y="1481328"/>
            <a:ext cx="2286000" cy="274320"/>
          </a:xfrm>
          <a:prstGeom prst="rect">
            <a:avLst/>
          </a:prstGeom>
          <a:noFill/>
          <a:ln/>
        </p:spPr>
        <p:txBody>
          <a:bodyPr wrap="square" lIns="0" tIns="0" rIns="0" bIns="0" rtlCol="0" anchor="ctr"/>
          <a:lstStyle/>
          <a:p>
            <a:pPr marL="0" indent="0">
              <a:buNone/>
            </a:pPr>
            <a:r>
              <a:rPr lang="en-US" sz="1700" b="1" dirty="0">
                <a:solidFill>
                  <a:srgbClr val="2C5F4A"/>
                </a:solidFill>
                <a:latin typeface="Calibri" pitchFamily="34" charset="0"/>
                <a:ea typeface="Calibri" pitchFamily="34" charset="-122"/>
                <a:cs typeface="Calibri" pitchFamily="34" charset="-120"/>
              </a:rPr>
              <a:t>API</a:t>
            </a:r>
            <a:endParaRPr lang="en-US" sz="1700" dirty="0"/>
          </a:p>
        </p:txBody>
      </p:sp>
      <p:sp>
        <p:nvSpPr>
          <p:cNvPr id="11" name="Text 9"/>
          <p:cNvSpPr/>
          <p:nvPr/>
        </p:nvSpPr>
        <p:spPr>
          <a:xfrm>
            <a:off x="548640" y="1783080"/>
            <a:ext cx="2377440" cy="256032"/>
          </a:xfrm>
          <a:prstGeom prst="rect">
            <a:avLst/>
          </a:prstGeom>
          <a:noFill/>
          <a:ln/>
        </p:spPr>
        <p:txBody>
          <a:bodyPr wrap="square" lIns="0" tIns="0" rIns="0" bIns="0" rtlCol="0" anchor="ctr"/>
          <a:lstStyle/>
          <a:p>
            <a:pPr marL="0" indent="0">
              <a:buNone/>
            </a:pPr>
            <a:r>
              <a:rPr lang="en-US" sz="1150" dirty="0">
                <a:solidFill>
                  <a:srgbClr val="1F2A24"/>
                </a:solidFill>
                <a:latin typeface="Calibri" pitchFamily="34" charset="0"/>
                <a:ea typeface="Calibri" pitchFamily="34" charset="-122"/>
                <a:cs typeface="Calibri" pitchFamily="34" charset="-120"/>
              </a:rPr>
              <a:t>Spring Boot 4 · Java 21</a:t>
            </a:r>
            <a:endParaRPr lang="en-US" sz="1150" dirty="0"/>
          </a:p>
        </p:txBody>
      </p:sp>
      <p:sp>
        <p:nvSpPr>
          <p:cNvPr id="12" name="Text 10"/>
          <p:cNvSpPr/>
          <p:nvPr/>
        </p:nvSpPr>
        <p:spPr>
          <a:xfrm>
            <a:off x="548640" y="2057400"/>
            <a:ext cx="2377440" cy="548640"/>
          </a:xfrm>
          <a:prstGeom prst="rect">
            <a:avLst/>
          </a:prstGeom>
          <a:noFill/>
          <a:ln/>
        </p:spPr>
        <p:txBody>
          <a:bodyPr wrap="square" lIns="0" tIns="0" rIns="0" bIns="0" rtlCol="0" anchor="ctr"/>
          <a:lstStyle/>
          <a:p>
            <a:pPr marL="0" indent="0">
              <a:buNone/>
            </a:pPr>
            <a:r>
              <a:rPr lang="en-US" sz="1050" dirty="0">
                <a:solidFill>
                  <a:srgbClr val="7A9A87"/>
                </a:solidFill>
                <a:latin typeface="Calibri" pitchFamily="34" charset="0"/>
                <a:ea typeface="Calibri" pitchFamily="34" charset="-122"/>
                <a:cs typeface="Calibri" pitchFamily="34" charset="-120"/>
              </a:rPr>
              <a:t>JWT · RBAC · MySQL 8 · Docker</a:t>
            </a:r>
            <a:endParaRPr lang="en-US" sz="1050" dirty="0"/>
          </a:p>
        </p:txBody>
      </p:sp>
      <p:sp>
        <p:nvSpPr>
          <p:cNvPr id="13" name="Shape 11"/>
          <p:cNvSpPr/>
          <p:nvPr/>
        </p:nvSpPr>
        <p:spPr>
          <a:xfrm>
            <a:off x="548640" y="2697480"/>
            <a:ext cx="1600200" cy="237744"/>
          </a:xfrm>
          <a:prstGeom prst="roundRect">
            <a:avLst>
              <a:gd name="adj" fmla="val 19231"/>
            </a:avLst>
          </a:prstGeom>
          <a:solidFill>
            <a:srgbClr val="E8F0EB"/>
          </a:solidFill>
          <a:ln w="12700">
            <a:solidFill>
              <a:srgbClr val="E8F0EB"/>
            </a:solidFill>
            <a:prstDash val="solid"/>
          </a:ln>
        </p:spPr>
        <p:txBody>
          <a:bodyPr/>
          <a:lstStyle/>
          <a:p>
            <a:endParaRPr lang="fr-FR"/>
          </a:p>
        </p:txBody>
      </p:sp>
      <p:sp>
        <p:nvSpPr>
          <p:cNvPr id="14" name="Text 12"/>
          <p:cNvSpPr/>
          <p:nvPr/>
        </p:nvSpPr>
        <p:spPr>
          <a:xfrm>
            <a:off x="548640" y="2697480"/>
            <a:ext cx="1600200" cy="237744"/>
          </a:xfrm>
          <a:prstGeom prst="rect">
            <a:avLst/>
          </a:prstGeom>
          <a:noFill/>
          <a:ln/>
        </p:spPr>
        <p:txBody>
          <a:bodyPr wrap="square" lIns="0" tIns="0" rIns="0" bIns="0" rtlCol="0" anchor="ctr"/>
          <a:lstStyle/>
          <a:p>
            <a:pPr marL="0" indent="0" algn="ctr">
              <a:buNone/>
            </a:pPr>
            <a:r>
              <a:rPr lang="en-US" sz="900" dirty="0">
                <a:solidFill>
                  <a:srgbClr val="4B6B59"/>
                </a:solidFill>
                <a:latin typeface="Calibri" pitchFamily="34" charset="0"/>
                <a:ea typeface="Calibri" pitchFamily="34" charset="-122"/>
                <a:cs typeface="Calibri" pitchFamily="34" charset="-120"/>
              </a:rPr>
              <a:t>api_zen</a:t>
            </a:r>
            <a:endParaRPr lang="en-US" sz="900" dirty="0"/>
          </a:p>
        </p:txBody>
      </p:sp>
      <p:sp>
        <p:nvSpPr>
          <p:cNvPr id="15" name="Shape 13"/>
          <p:cNvSpPr/>
          <p:nvPr/>
        </p:nvSpPr>
        <p:spPr>
          <a:xfrm>
            <a:off x="3227832" y="1371600"/>
            <a:ext cx="2688336" cy="1691640"/>
          </a:xfrm>
          <a:prstGeom prst="rect">
            <a:avLst/>
          </a:prstGeom>
          <a:solidFill>
            <a:srgbClr val="F7FAF6"/>
          </a:solidFill>
          <a:ln w="12700">
            <a:solidFill>
              <a:srgbClr val="F7FAF6"/>
            </a:solidFill>
            <a:prstDash val="solid"/>
          </a:ln>
        </p:spPr>
        <p:txBody>
          <a:bodyPr/>
          <a:lstStyle/>
          <a:p>
            <a:endParaRPr lang="fr-FR"/>
          </a:p>
        </p:txBody>
      </p:sp>
      <p:sp>
        <p:nvSpPr>
          <p:cNvPr id="16" name="Shape 14"/>
          <p:cNvSpPr/>
          <p:nvPr/>
        </p:nvSpPr>
        <p:spPr>
          <a:xfrm>
            <a:off x="3227832" y="1371600"/>
            <a:ext cx="54864" cy="1691640"/>
          </a:xfrm>
          <a:prstGeom prst="rect">
            <a:avLst/>
          </a:prstGeom>
          <a:solidFill>
            <a:srgbClr val="4B6B59"/>
          </a:solidFill>
          <a:ln w="12700">
            <a:solidFill>
              <a:srgbClr val="4B6B59"/>
            </a:solidFill>
            <a:prstDash val="solid"/>
          </a:ln>
        </p:spPr>
        <p:txBody>
          <a:bodyPr/>
          <a:lstStyle/>
          <a:p>
            <a:endParaRPr lang="fr-FR"/>
          </a:p>
        </p:txBody>
      </p:sp>
      <p:sp>
        <p:nvSpPr>
          <p:cNvPr id="17" name="Text 15"/>
          <p:cNvSpPr/>
          <p:nvPr/>
        </p:nvSpPr>
        <p:spPr>
          <a:xfrm>
            <a:off x="3410712" y="1481328"/>
            <a:ext cx="2286000" cy="274320"/>
          </a:xfrm>
          <a:prstGeom prst="rect">
            <a:avLst/>
          </a:prstGeom>
          <a:noFill/>
          <a:ln/>
        </p:spPr>
        <p:txBody>
          <a:bodyPr wrap="square" lIns="0" tIns="0" rIns="0" bIns="0" rtlCol="0" anchor="ctr"/>
          <a:lstStyle/>
          <a:p>
            <a:pPr marL="0" indent="0">
              <a:buNone/>
            </a:pPr>
            <a:r>
              <a:rPr lang="en-US" sz="1700" b="1" dirty="0">
                <a:solidFill>
                  <a:srgbClr val="2C5F4A"/>
                </a:solidFill>
                <a:latin typeface="Calibri" pitchFamily="34" charset="0"/>
                <a:ea typeface="Calibri" pitchFamily="34" charset="-122"/>
                <a:cs typeface="Calibri" pitchFamily="34" charset="-120"/>
              </a:rPr>
              <a:t>WEB</a:t>
            </a:r>
            <a:endParaRPr lang="en-US" sz="1700" dirty="0"/>
          </a:p>
        </p:txBody>
      </p:sp>
      <p:sp>
        <p:nvSpPr>
          <p:cNvPr id="18" name="Text 16"/>
          <p:cNvSpPr/>
          <p:nvPr/>
        </p:nvSpPr>
        <p:spPr>
          <a:xfrm>
            <a:off x="3410712" y="1783080"/>
            <a:ext cx="2377440" cy="256032"/>
          </a:xfrm>
          <a:prstGeom prst="rect">
            <a:avLst/>
          </a:prstGeom>
          <a:noFill/>
          <a:ln/>
        </p:spPr>
        <p:txBody>
          <a:bodyPr wrap="square" lIns="0" tIns="0" rIns="0" bIns="0" rtlCol="0" anchor="ctr"/>
          <a:lstStyle/>
          <a:p>
            <a:pPr marL="0" indent="0">
              <a:buNone/>
            </a:pPr>
            <a:r>
              <a:rPr lang="en-US" sz="1150" dirty="0">
                <a:solidFill>
                  <a:srgbClr val="1F2A24"/>
                </a:solidFill>
                <a:latin typeface="Calibri" pitchFamily="34" charset="0"/>
                <a:ea typeface="Calibri" pitchFamily="34" charset="-122"/>
                <a:cs typeface="Calibri" pitchFamily="34" charset="-120"/>
              </a:rPr>
              <a:t>Next.js 16 · React 19</a:t>
            </a:r>
            <a:endParaRPr lang="en-US" sz="1150" dirty="0"/>
          </a:p>
        </p:txBody>
      </p:sp>
      <p:sp>
        <p:nvSpPr>
          <p:cNvPr id="19" name="Text 17"/>
          <p:cNvSpPr/>
          <p:nvPr/>
        </p:nvSpPr>
        <p:spPr>
          <a:xfrm>
            <a:off x="3410712" y="2057400"/>
            <a:ext cx="2377440" cy="548640"/>
          </a:xfrm>
          <a:prstGeom prst="rect">
            <a:avLst/>
          </a:prstGeom>
          <a:noFill/>
          <a:ln/>
        </p:spPr>
        <p:txBody>
          <a:bodyPr wrap="square" lIns="0" tIns="0" rIns="0" bIns="0" rtlCol="0" anchor="ctr"/>
          <a:lstStyle/>
          <a:p>
            <a:pPr marL="0" indent="0">
              <a:buNone/>
            </a:pPr>
            <a:r>
              <a:rPr lang="en-US" sz="1050" dirty="0">
                <a:solidFill>
                  <a:srgbClr val="7A9A87"/>
                </a:solidFill>
                <a:latin typeface="Calibri" pitchFamily="34" charset="0"/>
                <a:ea typeface="Calibri" pitchFamily="34" charset="-122"/>
                <a:cs typeface="Calibri" pitchFamily="34" charset="-120"/>
              </a:rPr>
              <a:t>Vercel · pnpm · TypeScript</a:t>
            </a:r>
            <a:endParaRPr lang="en-US" sz="1050" dirty="0"/>
          </a:p>
        </p:txBody>
      </p:sp>
      <p:sp>
        <p:nvSpPr>
          <p:cNvPr id="20" name="Shape 18"/>
          <p:cNvSpPr/>
          <p:nvPr/>
        </p:nvSpPr>
        <p:spPr>
          <a:xfrm>
            <a:off x="3410712" y="2697480"/>
            <a:ext cx="1600200" cy="237744"/>
          </a:xfrm>
          <a:prstGeom prst="roundRect">
            <a:avLst>
              <a:gd name="adj" fmla="val 19231"/>
            </a:avLst>
          </a:prstGeom>
          <a:solidFill>
            <a:srgbClr val="E8F0EB"/>
          </a:solidFill>
          <a:ln w="12700">
            <a:solidFill>
              <a:srgbClr val="E8F0EB"/>
            </a:solidFill>
            <a:prstDash val="solid"/>
          </a:ln>
        </p:spPr>
        <p:txBody>
          <a:bodyPr/>
          <a:lstStyle/>
          <a:p>
            <a:endParaRPr lang="fr-FR"/>
          </a:p>
        </p:txBody>
      </p:sp>
      <p:sp>
        <p:nvSpPr>
          <p:cNvPr id="21" name="Text 19"/>
          <p:cNvSpPr/>
          <p:nvPr/>
        </p:nvSpPr>
        <p:spPr>
          <a:xfrm>
            <a:off x="3410712" y="2697480"/>
            <a:ext cx="1600200" cy="237744"/>
          </a:xfrm>
          <a:prstGeom prst="rect">
            <a:avLst/>
          </a:prstGeom>
          <a:noFill/>
          <a:ln/>
        </p:spPr>
        <p:txBody>
          <a:bodyPr wrap="square" lIns="0" tIns="0" rIns="0" bIns="0" rtlCol="0" anchor="ctr"/>
          <a:lstStyle/>
          <a:p>
            <a:pPr marL="0" indent="0" algn="ctr">
              <a:buNone/>
            </a:pPr>
            <a:r>
              <a:rPr lang="en-US" sz="900" dirty="0">
                <a:solidFill>
                  <a:srgbClr val="4B6B59"/>
                </a:solidFill>
                <a:latin typeface="Calibri" pitchFamily="34" charset="0"/>
                <a:ea typeface="Calibri" pitchFamily="34" charset="-122"/>
                <a:cs typeface="Calibri" pitchFamily="34" charset="-120"/>
              </a:rPr>
              <a:t>cesizen_web</a:t>
            </a:r>
            <a:endParaRPr lang="en-US" sz="900" dirty="0"/>
          </a:p>
        </p:txBody>
      </p:sp>
      <p:sp>
        <p:nvSpPr>
          <p:cNvPr id="22" name="Shape 20"/>
          <p:cNvSpPr/>
          <p:nvPr/>
        </p:nvSpPr>
        <p:spPr>
          <a:xfrm>
            <a:off x="6089904" y="1371600"/>
            <a:ext cx="2688336" cy="1691640"/>
          </a:xfrm>
          <a:prstGeom prst="rect">
            <a:avLst/>
          </a:prstGeom>
          <a:solidFill>
            <a:srgbClr val="F7FAF6"/>
          </a:solidFill>
          <a:ln w="12700">
            <a:solidFill>
              <a:srgbClr val="F7FAF6"/>
            </a:solidFill>
            <a:prstDash val="solid"/>
          </a:ln>
        </p:spPr>
        <p:txBody>
          <a:bodyPr/>
          <a:lstStyle/>
          <a:p>
            <a:endParaRPr lang="fr-FR"/>
          </a:p>
        </p:txBody>
      </p:sp>
      <p:sp>
        <p:nvSpPr>
          <p:cNvPr id="23" name="Shape 21"/>
          <p:cNvSpPr/>
          <p:nvPr/>
        </p:nvSpPr>
        <p:spPr>
          <a:xfrm>
            <a:off x="6089904" y="1371600"/>
            <a:ext cx="54864" cy="1691640"/>
          </a:xfrm>
          <a:prstGeom prst="rect">
            <a:avLst/>
          </a:prstGeom>
          <a:solidFill>
            <a:srgbClr val="4B6B59"/>
          </a:solidFill>
          <a:ln w="12700">
            <a:solidFill>
              <a:srgbClr val="4B6B59"/>
            </a:solidFill>
            <a:prstDash val="solid"/>
          </a:ln>
        </p:spPr>
        <p:txBody>
          <a:bodyPr/>
          <a:lstStyle/>
          <a:p>
            <a:endParaRPr lang="fr-FR"/>
          </a:p>
        </p:txBody>
      </p:sp>
      <p:sp>
        <p:nvSpPr>
          <p:cNvPr id="24" name="Text 22"/>
          <p:cNvSpPr/>
          <p:nvPr/>
        </p:nvSpPr>
        <p:spPr>
          <a:xfrm>
            <a:off x="6272784" y="1481328"/>
            <a:ext cx="2286000" cy="274320"/>
          </a:xfrm>
          <a:prstGeom prst="rect">
            <a:avLst/>
          </a:prstGeom>
          <a:noFill/>
          <a:ln/>
        </p:spPr>
        <p:txBody>
          <a:bodyPr wrap="square" lIns="0" tIns="0" rIns="0" bIns="0" rtlCol="0" anchor="ctr"/>
          <a:lstStyle/>
          <a:p>
            <a:pPr marL="0" indent="0">
              <a:buNone/>
            </a:pPr>
            <a:r>
              <a:rPr lang="en-US" sz="1700" b="1" dirty="0">
                <a:solidFill>
                  <a:srgbClr val="2C5F4A"/>
                </a:solidFill>
                <a:latin typeface="Calibri" pitchFamily="34" charset="0"/>
                <a:ea typeface="Calibri" pitchFamily="34" charset="-122"/>
                <a:cs typeface="Calibri" pitchFamily="34" charset="-120"/>
              </a:rPr>
              <a:t>MOBILE</a:t>
            </a:r>
            <a:endParaRPr lang="en-US" sz="1700" dirty="0"/>
          </a:p>
        </p:txBody>
      </p:sp>
      <p:sp>
        <p:nvSpPr>
          <p:cNvPr id="25" name="Text 23"/>
          <p:cNvSpPr/>
          <p:nvPr/>
        </p:nvSpPr>
        <p:spPr>
          <a:xfrm>
            <a:off x="6272784" y="1783080"/>
            <a:ext cx="2377440" cy="256032"/>
          </a:xfrm>
          <a:prstGeom prst="rect">
            <a:avLst/>
          </a:prstGeom>
          <a:noFill/>
          <a:ln/>
        </p:spPr>
        <p:txBody>
          <a:bodyPr wrap="square" lIns="0" tIns="0" rIns="0" bIns="0" rtlCol="0" anchor="ctr"/>
          <a:lstStyle/>
          <a:p>
            <a:pPr marL="0" indent="0">
              <a:buNone/>
            </a:pPr>
            <a:r>
              <a:rPr lang="en-US" sz="1150" dirty="0">
                <a:solidFill>
                  <a:srgbClr val="1F2A24"/>
                </a:solidFill>
                <a:latin typeface="Calibri" pitchFamily="34" charset="0"/>
                <a:ea typeface="Calibri" pitchFamily="34" charset="-122"/>
                <a:cs typeface="Calibri" pitchFamily="34" charset="-120"/>
              </a:rPr>
              <a:t>Flutter 3 · Dart</a:t>
            </a:r>
            <a:endParaRPr lang="en-US" sz="1150" dirty="0"/>
          </a:p>
        </p:txBody>
      </p:sp>
      <p:sp>
        <p:nvSpPr>
          <p:cNvPr id="26" name="Text 24"/>
          <p:cNvSpPr/>
          <p:nvPr/>
        </p:nvSpPr>
        <p:spPr>
          <a:xfrm>
            <a:off x="6272784" y="2057400"/>
            <a:ext cx="2377440" cy="548640"/>
          </a:xfrm>
          <a:prstGeom prst="rect">
            <a:avLst/>
          </a:prstGeom>
          <a:noFill/>
          <a:ln/>
        </p:spPr>
        <p:txBody>
          <a:bodyPr wrap="square" lIns="0" tIns="0" rIns="0" bIns="0" rtlCol="0" anchor="ctr"/>
          <a:lstStyle/>
          <a:p>
            <a:pPr marL="0" indent="0">
              <a:buNone/>
            </a:pPr>
            <a:r>
              <a:rPr lang="en-US" sz="1050" dirty="0">
                <a:solidFill>
                  <a:srgbClr val="7A9A87"/>
                </a:solidFill>
                <a:latin typeface="Calibri" pitchFamily="34" charset="0"/>
                <a:ea typeface="Calibri" pitchFamily="34" charset="-122"/>
                <a:cs typeface="Calibri" pitchFamily="34" charset="-120"/>
              </a:rPr>
              <a:t>Android · APK release</a:t>
            </a:r>
            <a:endParaRPr lang="en-US" sz="1050" dirty="0"/>
          </a:p>
        </p:txBody>
      </p:sp>
      <p:sp>
        <p:nvSpPr>
          <p:cNvPr id="27" name="Shape 25"/>
          <p:cNvSpPr/>
          <p:nvPr/>
        </p:nvSpPr>
        <p:spPr>
          <a:xfrm>
            <a:off x="6272784" y="2697480"/>
            <a:ext cx="1600200" cy="237744"/>
          </a:xfrm>
          <a:prstGeom prst="roundRect">
            <a:avLst>
              <a:gd name="adj" fmla="val 19231"/>
            </a:avLst>
          </a:prstGeom>
          <a:solidFill>
            <a:srgbClr val="E8F0EB"/>
          </a:solidFill>
          <a:ln w="12700">
            <a:solidFill>
              <a:srgbClr val="E8F0EB"/>
            </a:solidFill>
            <a:prstDash val="solid"/>
          </a:ln>
        </p:spPr>
        <p:txBody>
          <a:bodyPr/>
          <a:lstStyle/>
          <a:p>
            <a:endParaRPr lang="fr-FR"/>
          </a:p>
        </p:txBody>
      </p:sp>
      <p:sp>
        <p:nvSpPr>
          <p:cNvPr id="28" name="Text 26"/>
          <p:cNvSpPr/>
          <p:nvPr/>
        </p:nvSpPr>
        <p:spPr>
          <a:xfrm>
            <a:off x="6272784" y="2697480"/>
            <a:ext cx="1600200" cy="237744"/>
          </a:xfrm>
          <a:prstGeom prst="rect">
            <a:avLst/>
          </a:prstGeom>
          <a:noFill/>
          <a:ln/>
        </p:spPr>
        <p:txBody>
          <a:bodyPr wrap="square" lIns="0" tIns="0" rIns="0" bIns="0" rtlCol="0" anchor="ctr"/>
          <a:lstStyle/>
          <a:p>
            <a:pPr marL="0" indent="0" algn="ctr">
              <a:buNone/>
            </a:pPr>
            <a:r>
              <a:rPr lang="en-US" sz="900" dirty="0">
                <a:solidFill>
                  <a:srgbClr val="4B6B59"/>
                </a:solidFill>
                <a:latin typeface="Calibri" pitchFamily="34" charset="0"/>
                <a:ea typeface="Calibri" pitchFamily="34" charset="-122"/>
                <a:cs typeface="Calibri" pitchFamily="34" charset="-120"/>
              </a:rPr>
              <a:t>cesizen_mobile</a:t>
            </a:r>
            <a:endParaRPr lang="en-US" sz="900" dirty="0"/>
          </a:p>
        </p:txBody>
      </p:sp>
      <p:sp>
        <p:nvSpPr>
          <p:cNvPr id="29" name="Shape 27"/>
          <p:cNvSpPr/>
          <p:nvPr/>
        </p:nvSpPr>
        <p:spPr>
          <a:xfrm>
            <a:off x="365760" y="3246120"/>
            <a:ext cx="8412480" cy="1325880"/>
          </a:xfrm>
          <a:prstGeom prst="rect">
            <a:avLst/>
          </a:prstGeom>
          <a:solidFill>
            <a:srgbClr val="F7FAF6"/>
          </a:solidFill>
          <a:ln w="12700">
            <a:solidFill>
              <a:srgbClr val="F7FAF6"/>
            </a:solidFill>
            <a:prstDash val="solid"/>
          </a:ln>
        </p:spPr>
        <p:txBody>
          <a:bodyPr/>
          <a:lstStyle/>
          <a:p>
            <a:endParaRPr lang="fr-FR"/>
          </a:p>
        </p:txBody>
      </p:sp>
      <p:sp>
        <p:nvSpPr>
          <p:cNvPr id="30" name="Shape 28"/>
          <p:cNvSpPr/>
          <p:nvPr/>
        </p:nvSpPr>
        <p:spPr>
          <a:xfrm>
            <a:off x="365760" y="3246120"/>
            <a:ext cx="54864" cy="1325880"/>
          </a:xfrm>
          <a:prstGeom prst="rect">
            <a:avLst/>
          </a:prstGeom>
          <a:solidFill>
            <a:srgbClr val="4B6B59"/>
          </a:solidFill>
          <a:ln w="12700">
            <a:solidFill>
              <a:srgbClr val="4B6B59"/>
            </a:solidFill>
            <a:prstDash val="solid"/>
          </a:ln>
        </p:spPr>
        <p:txBody>
          <a:bodyPr/>
          <a:lstStyle/>
          <a:p>
            <a:endParaRPr lang="fr-FR"/>
          </a:p>
        </p:txBody>
      </p:sp>
      <p:sp>
        <p:nvSpPr>
          <p:cNvPr id="31" name="Text 29"/>
          <p:cNvSpPr/>
          <p:nvPr/>
        </p:nvSpPr>
        <p:spPr>
          <a:xfrm>
            <a:off x="566928" y="3337560"/>
            <a:ext cx="3657600" cy="256032"/>
          </a:xfrm>
          <a:prstGeom prst="rect">
            <a:avLst/>
          </a:prstGeom>
          <a:noFill/>
          <a:ln/>
        </p:spPr>
        <p:txBody>
          <a:bodyPr wrap="square" lIns="0" tIns="0" rIns="0" bIns="0" rtlCol="0" anchor="ctr"/>
          <a:lstStyle/>
          <a:p>
            <a:pPr marL="0" indent="0">
              <a:buNone/>
            </a:pPr>
            <a:r>
              <a:rPr lang="en-US" sz="1300" b="1" dirty="0">
                <a:solidFill>
                  <a:srgbClr val="4B6B59"/>
                </a:solidFill>
                <a:latin typeface="Calibri" pitchFamily="34" charset="0"/>
                <a:ea typeface="Calibri" pitchFamily="34" charset="-122"/>
                <a:cs typeface="Calibri" pitchFamily="34" charset="-120"/>
              </a:rPr>
              <a:t>L'enjeu du bloc 3</a:t>
            </a:r>
            <a:endParaRPr lang="en-US" sz="1300" dirty="0"/>
          </a:p>
        </p:txBody>
      </p:sp>
      <p:sp>
        <p:nvSpPr>
          <p:cNvPr id="32" name="Text 30"/>
          <p:cNvSpPr/>
          <p:nvPr/>
        </p:nvSpPr>
        <p:spPr>
          <a:xfrm>
            <a:off x="566928" y="3611880"/>
            <a:ext cx="8046720" cy="914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A24"/>
                </a:solidFill>
                <a:latin typeface="Calibri" pitchFamily="34" charset="0"/>
                <a:ea typeface="Calibri" pitchFamily="34" charset="-122"/>
                <a:cs typeface="Calibri" pitchFamily="34" charset="-120"/>
              </a:rPr>
              <a:t>Passer d'un code qui fonctionne à un système déployable, maintenable et sécurisé.</a:t>
            </a:r>
            <a:endParaRPr lang="en-US" sz="1200" dirty="0"/>
          </a:p>
          <a:p>
            <a:pPr marL="342900" indent="-342900">
              <a:spcAft>
                <a:spcPts val="600"/>
              </a:spcAft>
              <a:buSzPct val="100000"/>
              <a:buChar char="•"/>
            </a:pPr>
            <a:r>
              <a:rPr lang="en-US" sz="1200" dirty="0">
                <a:solidFill>
                  <a:srgbClr val="1F2A24"/>
                </a:solidFill>
                <a:latin typeface="Calibri" pitchFamily="34" charset="0"/>
                <a:ea typeface="Calibri" pitchFamily="34" charset="-122"/>
                <a:cs typeface="Calibri" pitchFamily="34" charset="-120"/>
              </a:rPr>
              <a:t>Même exigence appliquée aux trois dépôts : mêmes workflows, mêmes protections, même ticketing.</a:t>
            </a:r>
            <a:endParaRPr lang="en-US" sz="1200" dirty="0"/>
          </a:p>
          <a:p>
            <a:pPr marL="342900" indent="-342900">
              <a:spcAft>
                <a:spcPts val="600"/>
              </a:spcAft>
              <a:buSzPct val="100000"/>
              <a:buChar char="•"/>
            </a:pPr>
            <a:r>
              <a:rPr lang="en-US" sz="1200" dirty="0">
                <a:solidFill>
                  <a:srgbClr val="1F2A24"/>
                </a:solidFill>
                <a:latin typeface="Calibri" pitchFamily="34" charset="0"/>
                <a:ea typeface="Calibri" pitchFamily="34" charset="-122"/>
                <a:cs typeface="Calibri" pitchFamily="34" charset="-120"/>
              </a:rPr>
              <a:t>Contrainte assumée : projet mené en solo, sans budget d'hébergement dédié — les choix en tiennent compte.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B6B59"/>
        </a:solidFill>
        <a:effectLst/>
      </p:bgPr>
    </p:bg>
    <p:spTree>
      <p:nvGrpSpPr>
        <p:cNvPr id="1" name=""/>
        <p:cNvGrpSpPr/>
        <p:nvPr/>
      </p:nvGrpSpPr>
      <p:grpSpPr>
        <a:xfrm>
          <a:off x="0" y="0"/>
          <a:ext cx="0" cy="0"/>
          <a:chOff x="0" y="0"/>
          <a:chExt cx="0" cy="0"/>
        </a:xfrm>
      </p:grpSpPr>
      <p:sp>
        <p:nvSpPr>
          <p:cNvPr id="2" name="Text 0"/>
          <p:cNvSpPr/>
          <p:nvPr/>
        </p:nvSpPr>
        <p:spPr>
          <a:xfrm>
            <a:off x="274320" y="137160"/>
            <a:ext cx="3657600" cy="3200400"/>
          </a:xfrm>
          <a:prstGeom prst="rect">
            <a:avLst/>
          </a:prstGeom>
          <a:noFill/>
          <a:ln/>
        </p:spPr>
        <p:txBody>
          <a:bodyPr wrap="square" lIns="0" tIns="0" rIns="0" bIns="0" rtlCol="0" anchor="t"/>
          <a:lstStyle/>
          <a:p>
            <a:pPr marL="0" indent="0">
              <a:buNone/>
            </a:pPr>
            <a:r>
              <a:rPr lang="en-US" sz="13000" b="1" dirty="0">
                <a:solidFill>
                  <a:srgbClr val="6BA382"/>
                </a:solidFill>
                <a:latin typeface="Calibri" pitchFamily="34" charset="0"/>
                <a:ea typeface="Calibri" pitchFamily="34" charset="-122"/>
                <a:cs typeface="Calibri" pitchFamily="34" charset="-120"/>
              </a:rPr>
              <a:t>01</a:t>
            </a:r>
            <a:endParaRPr lang="en-US" sz="13000" dirty="0"/>
          </a:p>
        </p:txBody>
      </p:sp>
      <p:sp>
        <p:nvSpPr>
          <p:cNvPr id="3" name="Text 1"/>
          <p:cNvSpPr/>
          <p:nvPr/>
        </p:nvSpPr>
        <p:spPr>
          <a:xfrm>
            <a:off x="548640" y="1965960"/>
            <a:ext cx="8046720" cy="9144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Déploiement</a:t>
            </a:r>
            <a:endParaRPr lang="en-US" sz="3600" dirty="0"/>
          </a:p>
        </p:txBody>
      </p:sp>
      <p:sp>
        <p:nvSpPr>
          <p:cNvPr id="4" name="Text 2"/>
          <p:cNvSpPr/>
          <p:nvPr/>
        </p:nvSpPr>
        <p:spPr>
          <a:xfrm>
            <a:off x="548640" y="2926080"/>
            <a:ext cx="8046720" cy="457200"/>
          </a:xfrm>
          <a:prstGeom prst="rect">
            <a:avLst/>
          </a:prstGeom>
          <a:noFill/>
          <a:ln/>
        </p:spPr>
        <p:txBody>
          <a:bodyPr wrap="square" lIns="0" tIns="0" rIns="0" bIns="0" rtlCol="0" anchor="ctr"/>
          <a:lstStyle/>
          <a:p>
            <a:pPr marL="0" indent="0">
              <a:buNone/>
            </a:pPr>
            <a:r>
              <a:rPr lang="en-US" sz="1700" dirty="0">
                <a:solidFill>
                  <a:srgbClr val="A8DADC"/>
                </a:solidFill>
                <a:latin typeface="Calibri" pitchFamily="34" charset="0"/>
                <a:ea typeface="Calibri" pitchFamily="34" charset="-122"/>
                <a:cs typeface="Calibri" pitchFamily="34" charset="-120"/>
              </a:rPr>
              <a:t>Architecture · versioning · CI/CD · environnements · ressources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1243584"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12435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ARCHITECTURE</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Architecture de déploiement et flux de données</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Un seul port public · tout le reste en réseau interne</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8" name="Image 0" descr="C:\Users\Elio\AppData\Local\Temp\claude\C--Users-Elio-Documents-GitHub-api-zen\91c4ecb7-4e2d-4c95-a0ac-701930e72d98\scratchpad\dfd.png"/>
          <p:cNvPicPr>
            <a:picLocks noChangeAspect="1"/>
          </p:cNvPicPr>
          <p:nvPr/>
        </p:nvPicPr>
        <p:blipFill>
          <a:blip r:embed="rId3"/>
          <a:stretch>
            <a:fillRect/>
          </a:stretch>
        </p:blipFill>
        <p:spPr>
          <a:xfrm>
            <a:off x="365760" y="1325880"/>
            <a:ext cx="4709160" cy="3200400"/>
          </a:xfrm>
          <a:prstGeom prst="rect">
            <a:avLst/>
          </a:prstGeom>
        </p:spPr>
      </p:pic>
      <p:sp>
        <p:nvSpPr>
          <p:cNvPr id="9" name="Shape 6"/>
          <p:cNvSpPr/>
          <p:nvPr/>
        </p:nvSpPr>
        <p:spPr>
          <a:xfrm>
            <a:off x="5257800" y="1325880"/>
            <a:ext cx="3520440" cy="3200400"/>
          </a:xfrm>
          <a:prstGeom prst="rect">
            <a:avLst/>
          </a:prstGeom>
          <a:solidFill>
            <a:srgbClr val="F7FAF6"/>
          </a:solidFill>
          <a:ln w="12700">
            <a:solidFill>
              <a:srgbClr val="F7FAF6"/>
            </a:solidFill>
            <a:prstDash val="solid"/>
          </a:ln>
        </p:spPr>
        <p:txBody>
          <a:bodyPr/>
          <a:lstStyle/>
          <a:p>
            <a:endParaRPr lang="fr-FR"/>
          </a:p>
        </p:txBody>
      </p:sp>
      <p:sp>
        <p:nvSpPr>
          <p:cNvPr id="10" name="Shape 7"/>
          <p:cNvSpPr/>
          <p:nvPr/>
        </p:nvSpPr>
        <p:spPr>
          <a:xfrm>
            <a:off x="5257800" y="1325880"/>
            <a:ext cx="54864" cy="3200400"/>
          </a:xfrm>
          <a:prstGeom prst="rect">
            <a:avLst/>
          </a:prstGeom>
          <a:solidFill>
            <a:srgbClr val="4B6B59"/>
          </a:solidFill>
          <a:ln w="12700">
            <a:solidFill>
              <a:srgbClr val="4B6B59"/>
            </a:solidFill>
            <a:prstDash val="solid"/>
          </a:ln>
        </p:spPr>
        <p:txBody>
          <a:bodyPr/>
          <a:lstStyle/>
          <a:p>
            <a:endParaRPr lang="fr-FR"/>
          </a:p>
        </p:txBody>
      </p:sp>
      <p:sp>
        <p:nvSpPr>
          <p:cNvPr id="11" name="Text 8"/>
          <p:cNvSpPr/>
          <p:nvPr/>
        </p:nvSpPr>
        <p:spPr>
          <a:xfrm>
            <a:off x="5440680" y="1417320"/>
            <a:ext cx="320040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Principes retenus</a:t>
            </a:r>
            <a:endParaRPr lang="en-US" sz="1250" dirty="0"/>
          </a:p>
        </p:txBody>
      </p:sp>
      <p:sp>
        <p:nvSpPr>
          <p:cNvPr id="12" name="Text 9"/>
          <p:cNvSpPr/>
          <p:nvPr/>
        </p:nvSpPr>
        <p:spPr>
          <a:xfrm>
            <a:off x="5440680" y="1719072"/>
            <a:ext cx="3200400" cy="26517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Nginx est le seul point d'entrée public (443, TLS).</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L'API (8080) et MySQL (3306) ne sont pas exposés : réseau Docker interne cesizen-net.</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Authentification par JWT Bearer sur HTTPS, en-têtes de sécurité posés à deux niveaux.</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Médias externalisés sur Supabase — pas de fichier utilisateur sur le serveur applicatif.</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1088136"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1088136"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VERSIONING</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Outil de versioning : Git + GitHub</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main protégée · develop d'intégration · branches courtes · hotfix</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8" name="Image 0" descr="C:\Users\Elio\AppData\Local\Temp\claude\C--Users-Elio-Documents-GitHub-api-zen\91c4ecb7-4e2d-4c95-a0ac-701930e72d98\scratchpad\gitflow.png"/>
          <p:cNvPicPr>
            <a:picLocks noChangeAspect="1"/>
          </p:cNvPicPr>
          <p:nvPr/>
        </p:nvPicPr>
        <p:blipFill>
          <a:blip r:embed="rId3"/>
          <a:stretch>
            <a:fillRect/>
          </a:stretch>
        </p:blipFill>
        <p:spPr>
          <a:xfrm>
            <a:off x="1828800" y="1298448"/>
            <a:ext cx="5486400" cy="3163824"/>
          </a:xfrm>
          <a:prstGeom prst="rect">
            <a:avLst/>
          </a:prstGeom>
        </p:spPr>
      </p:pic>
      <p:sp>
        <p:nvSpPr>
          <p:cNvPr id="9" name="Text 6"/>
          <p:cNvSpPr/>
          <p:nvPr/>
        </p:nvSpPr>
        <p:spPr>
          <a:xfrm>
            <a:off x="731520" y="4480560"/>
            <a:ext cx="7680960" cy="256032"/>
          </a:xfrm>
          <a:prstGeom prst="rect">
            <a:avLst/>
          </a:prstGeom>
          <a:noFill/>
          <a:ln/>
        </p:spPr>
        <p:txBody>
          <a:bodyPr wrap="square" lIns="0" tIns="0" rIns="0" bIns="0" rtlCol="0" anchor="ctr"/>
          <a:lstStyle/>
          <a:p>
            <a:pPr marL="0" indent="0" algn="ctr">
              <a:buNone/>
            </a:pPr>
            <a:r>
              <a:rPr lang="en-US" sz="1100" dirty="0">
                <a:solidFill>
                  <a:srgbClr val="7A9A87"/>
                </a:solidFill>
                <a:latin typeface="Calibri" pitchFamily="34" charset="0"/>
                <a:ea typeface="Calibri" pitchFamily="34" charset="-122"/>
                <a:cs typeface="Calibri" pitchFamily="34" charset="-120"/>
              </a:rPr>
              <a:t>Conventional Commits · versions en SemVer · un hotfix part de main, y retourne, puis est reporté sur develop.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1321308"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132130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DÉMONSTRATION</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main protégée : ruleset et checks requis</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Démonstration live sur GitHub · les trois dépôts</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 name="Shape 6"/>
          <p:cNvSpPr/>
          <p:nvPr/>
        </p:nvSpPr>
        <p:spPr>
          <a:xfrm>
            <a:off x="365760" y="1325880"/>
            <a:ext cx="4114800" cy="3200400"/>
          </a:xfrm>
          <a:prstGeom prst="rect">
            <a:avLst/>
          </a:prstGeom>
          <a:solidFill>
            <a:srgbClr val="F7FAF6"/>
          </a:solidFill>
          <a:ln w="12700">
            <a:solidFill>
              <a:srgbClr val="F7FAF6"/>
            </a:solidFill>
            <a:prstDash val="solid"/>
          </a:ln>
        </p:spPr>
        <p:txBody>
          <a:bodyPr/>
          <a:lstStyle/>
          <a:p>
            <a:endParaRPr lang="fr-FR"/>
          </a:p>
        </p:txBody>
      </p:sp>
      <p:sp>
        <p:nvSpPr>
          <p:cNvPr id="9" name="Shape 7"/>
          <p:cNvSpPr/>
          <p:nvPr/>
        </p:nvSpPr>
        <p:spPr>
          <a:xfrm>
            <a:off x="365760" y="1325880"/>
            <a:ext cx="54864" cy="3200400"/>
          </a:xfrm>
          <a:prstGeom prst="rect">
            <a:avLst/>
          </a:prstGeom>
          <a:solidFill>
            <a:srgbClr val="4B6B59"/>
          </a:solidFill>
          <a:ln w="12700">
            <a:solidFill>
              <a:srgbClr val="4B6B59"/>
            </a:solidFill>
            <a:prstDash val="solid"/>
          </a:ln>
        </p:spPr>
        <p:txBody>
          <a:bodyPr/>
          <a:lstStyle/>
          <a:p>
            <a:endParaRPr lang="fr-FR"/>
          </a:p>
        </p:txBody>
      </p:sp>
      <p:sp>
        <p:nvSpPr>
          <p:cNvPr id="10" name="Text 8"/>
          <p:cNvSpPr/>
          <p:nvPr/>
        </p:nvSpPr>
        <p:spPr>
          <a:xfrm>
            <a:off x="548640" y="1417320"/>
            <a:ext cx="374904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Ruleset « protect-main »</a:t>
            </a:r>
            <a:endParaRPr lang="en-US" sz="1250" dirty="0"/>
          </a:p>
        </p:txBody>
      </p:sp>
      <p:sp>
        <p:nvSpPr>
          <p:cNvPr id="11" name="Text 9"/>
          <p:cNvSpPr/>
          <p:nvPr/>
        </p:nvSpPr>
        <p:spPr>
          <a:xfrm>
            <a:off x="548640" y="1719072"/>
            <a:ext cx="3749040" cy="26517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Pull request obligatoire — aucun push direct sur main.</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Force-push et suppression de branche interdits.</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Checks de statut requis : build/tests, Gitleaks, Trivy.</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Règle identique sur les trois dépôts.</a:t>
            </a:r>
            <a:endParaRPr lang="en-US" sz="1150" dirty="0"/>
          </a:p>
        </p:txBody>
      </p:sp>
      <p:sp>
        <p:nvSpPr>
          <p:cNvPr id="12" name="Shape 10"/>
          <p:cNvSpPr/>
          <p:nvPr/>
        </p:nvSpPr>
        <p:spPr>
          <a:xfrm>
            <a:off x="4663440" y="1325880"/>
            <a:ext cx="4114800" cy="1508760"/>
          </a:xfrm>
          <a:prstGeom prst="rect">
            <a:avLst/>
          </a:prstGeom>
          <a:solidFill>
            <a:srgbClr val="F7FAF6"/>
          </a:solidFill>
          <a:ln w="12700">
            <a:solidFill>
              <a:srgbClr val="F7FAF6"/>
            </a:solidFill>
            <a:prstDash val="solid"/>
          </a:ln>
        </p:spPr>
        <p:txBody>
          <a:bodyPr/>
          <a:lstStyle/>
          <a:p>
            <a:endParaRPr lang="fr-FR"/>
          </a:p>
        </p:txBody>
      </p:sp>
      <p:sp>
        <p:nvSpPr>
          <p:cNvPr id="13" name="Shape 11"/>
          <p:cNvSpPr/>
          <p:nvPr/>
        </p:nvSpPr>
        <p:spPr>
          <a:xfrm>
            <a:off x="4663440" y="1325880"/>
            <a:ext cx="54864" cy="1508760"/>
          </a:xfrm>
          <a:prstGeom prst="rect">
            <a:avLst/>
          </a:prstGeom>
          <a:solidFill>
            <a:srgbClr val="4B6B59"/>
          </a:solidFill>
          <a:ln w="12700">
            <a:solidFill>
              <a:srgbClr val="4B6B59"/>
            </a:solidFill>
            <a:prstDash val="solid"/>
          </a:ln>
        </p:spPr>
        <p:txBody>
          <a:bodyPr/>
          <a:lstStyle/>
          <a:p>
            <a:endParaRPr lang="fr-FR"/>
          </a:p>
        </p:txBody>
      </p:sp>
      <p:sp>
        <p:nvSpPr>
          <p:cNvPr id="14" name="Text 12"/>
          <p:cNvSpPr/>
          <p:nvPr/>
        </p:nvSpPr>
        <p:spPr>
          <a:xfrm>
            <a:off x="4846320" y="1417320"/>
            <a:ext cx="374904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Ce que ça garantit</a:t>
            </a:r>
            <a:endParaRPr lang="en-US" sz="1250" dirty="0"/>
          </a:p>
        </p:txBody>
      </p:sp>
      <p:sp>
        <p:nvSpPr>
          <p:cNvPr id="15" name="Text 13"/>
          <p:cNvSpPr/>
          <p:nvPr/>
        </p:nvSpPr>
        <p:spPr>
          <a:xfrm>
            <a:off x="4846320" y="1719072"/>
            <a:ext cx="3749040" cy="10515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Aucun code non testé ne peut atteindre la production.</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Aucune vulnérabilité connue ni secret ne passe le merge.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914400"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9144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CI / CD</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Ce qui se lance, à chaque étape du workflow Git</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Trois workflows séparés par dépôt</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8" name="Image 0" descr="C:\Users\Elio\AppData\Local\Temp\claude\C--Users-Elio-Documents-GitHub-api-zen\91c4ecb7-4e2d-4c95-a0ac-701930e72d98\scratchpad\triggers.png"/>
          <p:cNvPicPr>
            <a:picLocks noChangeAspect="1"/>
          </p:cNvPicPr>
          <p:nvPr/>
        </p:nvPicPr>
        <p:blipFill>
          <a:blip r:embed="rId3"/>
          <a:stretch>
            <a:fillRect/>
          </a:stretch>
        </p:blipFill>
        <p:spPr>
          <a:xfrm>
            <a:off x="365760" y="1298448"/>
            <a:ext cx="3703320" cy="3246120"/>
          </a:xfrm>
          <a:prstGeom prst="rect">
            <a:avLst/>
          </a:prstGeom>
        </p:spPr>
      </p:pic>
      <p:sp>
        <p:nvSpPr>
          <p:cNvPr id="9" name="Shape 6"/>
          <p:cNvSpPr/>
          <p:nvPr/>
        </p:nvSpPr>
        <p:spPr>
          <a:xfrm>
            <a:off x="4297680" y="1298448"/>
            <a:ext cx="4480560" cy="1691640"/>
          </a:xfrm>
          <a:prstGeom prst="rect">
            <a:avLst/>
          </a:prstGeom>
          <a:solidFill>
            <a:srgbClr val="F7FAF6"/>
          </a:solidFill>
          <a:ln w="12700">
            <a:solidFill>
              <a:srgbClr val="F7FAF6"/>
            </a:solidFill>
            <a:prstDash val="solid"/>
          </a:ln>
        </p:spPr>
        <p:txBody>
          <a:bodyPr/>
          <a:lstStyle/>
          <a:p>
            <a:endParaRPr lang="fr-FR"/>
          </a:p>
        </p:txBody>
      </p:sp>
      <p:sp>
        <p:nvSpPr>
          <p:cNvPr id="10" name="Shape 7"/>
          <p:cNvSpPr/>
          <p:nvPr/>
        </p:nvSpPr>
        <p:spPr>
          <a:xfrm>
            <a:off x="4297680" y="1298448"/>
            <a:ext cx="54864" cy="1691640"/>
          </a:xfrm>
          <a:prstGeom prst="rect">
            <a:avLst/>
          </a:prstGeom>
          <a:solidFill>
            <a:srgbClr val="4B6B59"/>
          </a:solidFill>
          <a:ln w="12700">
            <a:solidFill>
              <a:srgbClr val="4B6B59"/>
            </a:solidFill>
            <a:prstDash val="solid"/>
          </a:ln>
        </p:spPr>
        <p:txBody>
          <a:bodyPr/>
          <a:lstStyle/>
          <a:p>
            <a:endParaRPr lang="fr-FR"/>
          </a:p>
        </p:txBody>
      </p:sp>
      <p:sp>
        <p:nvSpPr>
          <p:cNvPr id="11" name="Text 8"/>
          <p:cNvSpPr/>
          <p:nvPr/>
        </p:nvSpPr>
        <p:spPr>
          <a:xfrm>
            <a:off x="4480560" y="1389888"/>
            <a:ext cx="411480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Trois workflows, volontairement séparés</a:t>
            </a:r>
            <a:endParaRPr lang="en-US" sz="1250" dirty="0"/>
          </a:p>
        </p:txBody>
      </p:sp>
      <p:sp>
        <p:nvSpPr>
          <p:cNvPr id="12" name="Text 9"/>
          <p:cNvSpPr/>
          <p:nvPr/>
        </p:nvSpPr>
        <p:spPr>
          <a:xfrm>
            <a:off x="4480560" y="1691640"/>
            <a:ext cx="4114800" cy="11887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ci-*.yml — build, tests, lint, couverture</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security-*.yml — Trivy, Gitleaks, OWASP</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deploy-*.yml — déploiement, après CI verte</a:t>
            </a:r>
            <a:endParaRPr lang="en-US" sz="1150" dirty="0"/>
          </a:p>
        </p:txBody>
      </p:sp>
      <p:sp>
        <p:nvSpPr>
          <p:cNvPr id="13" name="Shape 10"/>
          <p:cNvSpPr/>
          <p:nvPr/>
        </p:nvSpPr>
        <p:spPr>
          <a:xfrm>
            <a:off x="4297680" y="3127248"/>
            <a:ext cx="4480560" cy="1417320"/>
          </a:xfrm>
          <a:prstGeom prst="rect">
            <a:avLst/>
          </a:prstGeom>
          <a:solidFill>
            <a:srgbClr val="F7FAF6"/>
          </a:solidFill>
          <a:ln w="12700">
            <a:solidFill>
              <a:srgbClr val="F7FAF6"/>
            </a:solidFill>
            <a:prstDash val="solid"/>
          </a:ln>
        </p:spPr>
        <p:txBody>
          <a:bodyPr/>
          <a:lstStyle/>
          <a:p>
            <a:endParaRPr lang="fr-FR"/>
          </a:p>
        </p:txBody>
      </p:sp>
      <p:sp>
        <p:nvSpPr>
          <p:cNvPr id="14" name="Shape 11"/>
          <p:cNvSpPr/>
          <p:nvPr/>
        </p:nvSpPr>
        <p:spPr>
          <a:xfrm>
            <a:off x="4297680" y="3127248"/>
            <a:ext cx="54864" cy="1417320"/>
          </a:xfrm>
          <a:prstGeom prst="rect">
            <a:avLst/>
          </a:prstGeom>
          <a:solidFill>
            <a:srgbClr val="4B6B59"/>
          </a:solidFill>
          <a:ln w="12700">
            <a:solidFill>
              <a:srgbClr val="4B6B59"/>
            </a:solidFill>
            <a:prstDash val="solid"/>
          </a:ln>
        </p:spPr>
        <p:txBody>
          <a:bodyPr/>
          <a:lstStyle/>
          <a:p>
            <a:endParaRPr lang="fr-FR"/>
          </a:p>
        </p:txBody>
      </p:sp>
      <p:sp>
        <p:nvSpPr>
          <p:cNvPr id="15" name="Text 12"/>
          <p:cNvSpPr/>
          <p:nvPr/>
        </p:nvSpPr>
        <p:spPr>
          <a:xfrm>
            <a:off x="4480560" y="3218688"/>
            <a:ext cx="411480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Pourquoi les séparer</a:t>
            </a:r>
            <a:endParaRPr lang="en-US" sz="1250" dirty="0"/>
          </a:p>
        </p:txBody>
      </p:sp>
      <p:sp>
        <p:nvSpPr>
          <p:cNvPr id="16" name="Text 13"/>
          <p:cNvSpPr/>
          <p:nvPr/>
        </p:nvSpPr>
        <p:spPr>
          <a:xfrm>
            <a:off x="4480560" y="3520440"/>
            <a:ext cx="4114800" cy="914400"/>
          </a:xfrm>
          <a:prstGeom prst="rect">
            <a:avLst/>
          </a:prstGeom>
          <a:noFill/>
          <a:ln/>
        </p:spPr>
        <p:txBody>
          <a:bodyPr wrap="square" lIns="0" tIns="0" rIns="0" bIns="0" rtlCol="0" anchor="ctr"/>
          <a:lstStyle/>
          <a:p>
            <a:pPr marL="0" indent="0">
              <a:buNone/>
            </a:pPr>
            <a:r>
              <a:rPr lang="en-US" sz="1150" dirty="0">
                <a:solidFill>
                  <a:srgbClr val="1F2A24"/>
                </a:solidFill>
                <a:latin typeface="Calibri" pitchFamily="34" charset="0"/>
                <a:ea typeface="Calibri" pitchFamily="34" charset="-122"/>
                <a:cs typeface="Calibri" pitchFamily="34" charset="-120"/>
              </a:rPr>
              <a:t>Un scan lent ou une base CVE indisponible ne doit jamais bloquer un build. Les PR ouvertes par Dependabot relancent CI + Security : chaque montée de version est validée automatiquement avant tout merge.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1399032"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1399032"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ENVIRONNEMENTS</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Environnements, automatisations et ressources</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Deux environnements en œuvre · un troisième conçu</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8412480" cy="1755648"/>
        </p:xfrm>
        <a:graphic>
          <a:graphicData uri="http://schemas.openxmlformats.org/drawingml/2006/table">
            <a:tbl>
              <a:tblPr/>
              <a:tblGrid>
                <a:gridCol w="160020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92608">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Environnement</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Cible</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Déclenchement</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Ressources</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Coût</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extLst>
                  <a:ext uri="{0D108BD9-81ED-4DB2-BD59-A6C34878D82A}">
                    <a16:rowId xmlns:a16="http://schemas.microsoft.com/office/drawing/2014/main" val="10000"/>
                  </a:ext>
                </a:extLst>
              </a:tr>
              <a:tr h="292608">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Développement</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Docker Compose local</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Manuel</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Poste dev — 4 vCPU / 8 Go</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0 €</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Staging (conçu)</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Instance dédiée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Push sur develop</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VPS 2 vCPU / 4 Go / 40 Go</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 5-10 €/m</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extLst>
                  <a:ext uri="{0D108BD9-81ED-4DB2-BD59-A6C34878D82A}">
                    <a16:rowId xmlns:a16="http://schemas.microsoft.com/office/drawing/2014/main" val="10002"/>
                  </a:ext>
                </a:extLst>
              </a:tr>
              <a:tr h="292608">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Production — Web</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Vercel (serverless)</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Push sur main — auto</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Aucun serveur à gérer</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0 → 20 €/m</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Production — API</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Image GHCR + VPS</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Push sur main — gated</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VPS 2 vCPU / 4 Go / 80 Go</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 10-15 €/m</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extLst>
                  <a:ext uri="{0D108BD9-81ED-4DB2-BD59-A6C34878D82A}">
                    <a16:rowId xmlns:a16="http://schemas.microsoft.com/office/drawing/2014/main" val="10004"/>
                  </a:ext>
                </a:extLst>
              </a:tr>
              <a:tr h="292608">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Production — Mobile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Artefact APK</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CI release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Aucun serveur</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0 €</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Shape 6"/>
          <p:cNvSpPr/>
          <p:nvPr/>
        </p:nvSpPr>
        <p:spPr>
          <a:xfrm>
            <a:off x="365760" y="3520440"/>
            <a:ext cx="8412480" cy="1051560"/>
          </a:xfrm>
          <a:prstGeom prst="rect">
            <a:avLst/>
          </a:prstGeom>
          <a:solidFill>
            <a:srgbClr val="F7FAF6"/>
          </a:solidFill>
          <a:ln w="12700">
            <a:solidFill>
              <a:srgbClr val="F7FAF6"/>
            </a:solidFill>
            <a:prstDash val="solid"/>
          </a:ln>
        </p:spPr>
        <p:txBody>
          <a:bodyPr/>
          <a:lstStyle/>
          <a:p>
            <a:endParaRPr lang="fr-FR"/>
          </a:p>
        </p:txBody>
      </p:sp>
      <p:sp>
        <p:nvSpPr>
          <p:cNvPr id="8" name="Shape 7"/>
          <p:cNvSpPr/>
          <p:nvPr/>
        </p:nvSpPr>
        <p:spPr>
          <a:xfrm>
            <a:off x="365760" y="3520440"/>
            <a:ext cx="54864" cy="1051560"/>
          </a:xfrm>
          <a:prstGeom prst="rect">
            <a:avLst/>
          </a:prstGeom>
          <a:solidFill>
            <a:srgbClr val="4B6B59"/>
          </a:solidFill>
          <a:ln w="12700">
            <a:solidFill>
              <a:srgbClr val="4B6B59"/>
            </a:solidFill>
            <a:prstDash val="solid"/>
          </a:ln>
        </p:spPr>
        <p:txBody>
          <a:bodyPr/>
          <a:lstStyle/>
          <a:p>
            <a:endParaRPr lang="fr-FR"/>
          </a:p>
        </p:txBody>
      </p:sp>
      <p:sp>
        <p:nvSpPr>
          <p:cNvPr id="11" name="Text 8"/>
          <p:cNvSpPr/>
          <p:nvPr/>
        </p:nvSpPr>
        <p:spPr>
          <a:xfrm>
            <a:off x="566928" y="3593592"/>
            <a:ext cx="365760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Ressources d'automatisation</a:t>
            </a:r>
            <a:endParaRPr lang="en-US" sz="1250" dirty="0"/>
          </a:p>
        </p:txBody>
      </p:sp>
      <p:sp>
        <p:nvSpPr>
          <p:cNvPr id="12" name="Text 9"/>
          <p:cNvSpPr/>
          <p:nvPr/>
        </p:nvSpPr>
        <p:spPr>
          <a:xfrm>
            <a:off x="566928" y="3858768"/>
            <a:ext cx="8046720" cy="640080"/>
          </a:xfrm>
          <a:prstGeom prst="rect">
            <a:avLst/>
          </a:prstGeom>
          <a:noFill/>
          <a:ln/>
        </p:spPr>
        <p:txBody>
          <a:bodyPr wrap="square" lIns="0" tIns="0" rIns="0" bIns="0" rtlCol="0" anchor="ctr"/>
          <a:lstStyle/>
          <a:p>
            <a:pPr marL="0" indent="0">
              <a:buNone/>
            </a:pPr>
            <a:r>
              <a:rPr lang="en-US" sz="1150" dirty="0">
                <a:solidFill>
                  <a:srgbClr val="1F2A24"/>
                </a:solidFill>
                <a:latin typeface="Calibri" pitchFamily="34" charset="0"/>
                <a:ea typeface="Calibri" pitchFamily="34" charset="-122"/>
                <a:cs typeface="Calibri" pitchFamily="34" charset="-120"/>
              </a:rPr>
              <a:t>Les workflows tournent sur des runners GitHub Actions hébergés — gratuits et illimités sur dépôts publics : aucune infrastructure de build à maintenir. Le seul coût récurrent réel est l'hébergement de l'API ; le web et le mobile n'engendrent aucun coût serveur.</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1165860"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11658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DÉPLOIEMENT</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Déploiement par application et rollback</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Chaque application a sa cible et sa procédure de retour arrière</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8" name="Shape 6"/>
          <p:cNvSpPr/>
          <p:nvPr/>
        </p:nvSpPr>
        <p:spPr>
          <a:xfrm>
            <a:off x="365760" y="1325880"/>
            <a:ext cx="8412480" cy="987552"/>
          </a:xfrm>
          <a:prstGeom prst="rect">
            <a:avLst/>
          </a:prstGeom>
          <a:solidFill>
            <a:srgbClr val="F7FAF6"/>
          </a:solidFill>
          <a:ln w="12700">
            <a:solidFill>
              <a:srgbClr val="F7FAF6"/>
            </a:solidFill>
            <a:prstDash val="solid"/>
          </a:ln>
        </p:spPr>
        <p:txBody>
          <a:bodyPr/>
          <a:lstStyle/>
          <a:p>
            <a:endParaRPr lang="fr-FR"/>
          </a:p>
        </p:txBody>
      </p:sp>
      <p:sp>
        <p:nvSpPr>
          <p:cNvPr id="9" name="Shape 7"/>
          <p:cNvSpPr/>
          <p:nvPr/>
        </p:nvSpPr>
        <p:spPr>
          <a:xfrm>
            <a:off x="365760" y="1325880"/>
            <a:ext cx="54864" cy="987552"/>
          </a:xfrm>
          <a:prstGeom prst="rect">
            <a:avLst/>
          </a:prstGeom>
          <a:solidFill>
            <a:srgbClr val="4B6B59"/>
          </a:solidFill>
          <a:ln w="12700">
            <a:solidFill>
              <a:srgbClr val="4B6B59"/>
            </a:solidFill>
            <a:prstDash val="solid"/>
          </a:ln>
        </p:spPr>
        <p:txBody>
          <a:bodyPr/>
          <a:lstStyle/>
          <a:p>
            <a:endParaRPr lang="fr-FR"/>
          </a:p>
        </p:txBody>
      </p:sp>
      <p:sp>
        <p:nvSpPr>
          <p:cNvPr id="10" name="Text 8"/>
          <p:cNvSpPr/>
          <p:nvPr/>
        </p:nvSpPr>
        <p:spPr>
          <a:xfrm>
            <a:off x="566928" y="1399032"/>
            <a:ext cx="2011680" cy="256032"/>
          </a:xfrm>
          <a:prstGeom prst="rect">
            <a:avLst/>
          </a:prstGeom>
          <a:noFill/>
          <a:ln/>
        </p:spPr>
        <p:txBody>
          <a:bodyPr wrap="square" lIns="0" tIns="0" rIns="0" bIns="0" rtlCol="0" anchor="ctr"/>
          <a:lstStyle/>
          <a:p>
            <a:pPr marL="0" indent="0">
              <a:buNone/>
            </a:pPr>
            <a:r>
              <a:rPr lang="en-US" sz="1350" b="1" dirty="0">
                <a:solidFill>
                  <a:srgbClr val="2C5F4A"/>
                </a:solidFill>
                <a:latin typeface="Calibri" pitchFamily="34" charset="0"/>
                <a:ea typeface="Calibri" pitchFamily="34" charset="-122"/>
                <a:cs typeface="Calibri" pitchFamily="34" charset="-120"/>
              </a:rPr>
              <a:t>Web — Vercel</a:t>
            </a:r>
            <a:endParaRPr lang="en-US" sz="1350" dirty="0"/>
          </a:p>
        </p:txBody>
      </p:sp>
      <p:sp>
        <p:nvSpPr>
          <p:cNvPr id="11" name="Shape 9"/>
          <p:cNvSpPr/>
          <p:nvPr/>
        </p:nvSpPr>
        <p:spPr>
          <a:xfrm>
            <a:off x="566928" y="1947672"/>
            <a:ext cx="2651760" cy="237744"/>
          </a:xfrm>
          <a:prstGeom prst="roundRect">
            <a:avLst>
              <a:gd name="adj" fmla="val 19231"/>
            </a:avLst>
          </a:prstGeom>
          <a:solidFill>
            <a:srgbClr val="E8F0EB"/>
          </a:solidFill>
          <a:ln w="12700">
            <a:solidFill>
              <a:srgbClr val="E8F0EB"/>
            </a:solidFill>
            <a:prstDash val="solid"/>
          </a:ln>
        </p:spPr>
        <p:txBody>
          <a:bodyPr/>
          <a:lstStyle/>
          <a:p>
            <a:endParaRPr lang="fr-FR"/>
          </a:p>
        </p:txBody>
      </p:sp>
      <p:sp>
        <p:nvSpPr>
          <p:cNvPr id="12" name="Text 10"/>
          <p:cNvSpPr/>
          <p:nvPr/>
        </p:nvSpPr>
        <p:spPr>
          <a:xfrm>
            <a:off x="566928" y="1947672"/>
            <a:ext cx="2651760" cy="237744"/>
          </a:xfrm>
          <a:prstGeom prst="rect">
            <a:avLst/>
          </a:prstGeom>
          <a:noFill/>
          <a:ln/>
        </p:spPr>
        <p:txBody>
          <a:bodyPr wrap="square" lIns="0" tIns="0" rIns="0" bIns="0" rtlCol="0" anchor="ctr"/>
          <a:lstStyle/>
          <a:p>
            <a:pPr marL="0" indent="0" algn="ctr">
              <a:buNone/>
            </a:pPr>
            <a:r>
              <a:rPr lang="en-US" sz="900" dirty="0">
                <a:solidFill>
                  <a:srgbClr val="4B6B59"/>
                </a:solidFill>
                <a:latin typeface="Calibri" pitchFamily="34" charset="0"/>
                <a:ea typeface="Calibri" pitchFamily="34" charset="-122"/>
                <a:cs typeface="Calibri" pitchFamily="34" charset="-120"/>
              </a:rPr>
              <a:t>Rollback : redéployer un déploiement antérieur</a:t>
            </a:r>
            <a:endParaRPr lang="en-US" sz="900" dirty="0"/>
          </a:p>
        </p:txBody>
      </p:sp>
      <p:sp>
        <p:nvSpPr>
          <p:cNvPr id="13" name="Text 11"/>
          <p:cNvSpPr/>
          <p:nvPr/>
        </p:nvSpPr>
        <p:spPr>
          <a:xfrm>
            <a:off x="3383280" y="1417320"/>
            <a:ext cx="5257800" cy="8229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Intégration Git native : chaque push sur main est build et mis en production.</a:t>
            </a:r>
            <a:endParaRPr lang="en-US" sz="1100" dirty="0"/>
          </a:p>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Workflow de secours manuel (confirmation « PROD ») indépendant du dashboard.</a:t>
            </a:r>
            <a:endParaRPr lang="en-US" sz="1100" dirty="0"/>
          </a:p>
        </p:txBody>
      </p:sp>
      <p:sp>
        <p:nvSpPr>
          <p:cNvPr id="14" name="Shape 12"/>
          <p:cNvSpPr/>
          <p:nvPr/>
        </p:nvSpPr>
        <p:spPr>
          <a:xfrm>
            <a:off x="365760" y="2423160"/>
            <a:ext cx="8412480" cy="987552"/>
          </a:xfrm>
          <a:prstGeom prst="rect">
            <a:avLst/>
          </a:prstGeom>
          <a:solidFill>
            <a:srgbClr val="F7FAF6"/>
          </a:solidFill>
          <a:ln w="12700">
            <a:solidFill>
              <a:srgbClr val="F7FAF6"/>
            </a:solidFill>
            <a:prstDash val="solid"/>
          </a:ln>
        </p:spPr>
        <p:txBody>
          <a:bodyPr/>
          <a:lstStyle/>
          <a:p>
            <a:endParaRPr lang="fr-FR"/>
          </a:p>
        </p:txBody>
      </p:sp>
      <p:sp>
        <p:nvSpPr>
          <p:cNvPr id="15" name="Shape 13"/>
          <p:cNvSpPr/>
          <p:nvPr/>
        </p:nvSpPr>
        <p:spPr>
          <a:xfrm>
            <a:off x="365760" y="2423160"/>
            <a:ext cx="54864" cy="987552"/>
          </a:xfrm>
          <a:prstGeom prst="rect">
            <a:avLst/>
          </a:prstGeom>
          <a:solidFill>
            <a:srgbClr val="4B6B59"/>
          </a:solidFill>
          <a:ln w="12700">
            <a:solidFill>
              <a:srgbClr val="4B6B59"/>
            </a:solidFill>
            <a:prstDash val="solid"/>
          </a:ln>
        </p:spPr>
        <p:txBody>
          <a:bodyPr/>
          <a:lstStyle/>
          <a:p>
            <a:endParaRPr lang="fr-FR"/>
          </a:p>
        </p:txBody>
      </p:sp>
      <p:sp>
        <p:nvSpPr>
          <p:cNvPr id="16" name="Text 14"/>
          <p:cNvSpPr/>
          <p:nvPr/>
        </p:nvSpPr>
        <p:spPr>
          <a:xfrm>
            <a:off x="566928" y="2496312"/>
            <a:ext cx="2011680" cy="256032"/>
          </a:xfrm>
          <a:prstGeom prst="rect">
            <a:avLst/>
          </a:prstGeom>
          <a:noFill/>
          <a:ln/>
        </p:spPr>
        <p:txBody>
          <a:bodyPr wrap="square" lIns="0" tIns="0" rIns="0" bIns="0" rtlCol="0" anchor="ctr"/>
          <a:lstStyle/>
          <a:p>
            <a:pPr marL="0" indent="0">
              <a:buNone/>
            </a:pPr>
            <a:r>
              <a:rPr lang="en-US" sz="1350" b="1" dirty="0">
                <a:solidFill>
                  <a:srgbClr val="2C5F4A"/>
                </a:solidFill>
                <a:latin typeface="Calibri" pitchFamily="34" charset="0"/>
                <a:ea typeface="Calibri" pitchFamily="34" charset="-122"/>
                <a:cs typeface="Calibri" pitchFamily="34" charset="-120"/>
              </a:rPr>
              <a:t>API — GHCR</a:t>
            </a:r>
            <a:endParaRPr lang="en-US" sz="1350" dirty="0"/>
          </a:p>
        </p:txBody>
      </p:sp>
      <p:sp>
        <p:nvSpPr>
          <p:cNvPr id="17" name="Shape 15"/>
          <p:cNvSpPr/>
          <p:nvPr/>
        </p:nvSpPr>
        <p:spPr>
          <a:xfrm>
            <a:off x="566928" y="3044952"/>
            <a:ext cx="2651760" cy="237744"/>
          </a:xfrm>
          <a:prstGeom prst="roundRect">
            <a:avLst>
              <a:gd name="adj" fmla="val 19231"/>
            </a:avLst>
          </a:prstGeom>
          <a:solidFill>
            <a:srgbClr val="E8F0EB"/>
          </a:solidFill>
          <a:ln w="12700">
            <a:solidFill>
              <a:srgbClr val="E8F0EB"/>
            </a:solidFill>
            <a:prstDash val="solid"/>
          </a:ln>
        </p:spPr>
        <p:txBody>
          <a:bodyPr/>
          <a:lstStyle/>
          <a:p>
            <a:endParaRPr lang="fr-FR"/>
          </a:p>
        </p:txBody>
      </p:sp>
      <p:sp>
        <p:nvSpPr>
          <p:cNvPr id="18" name="Text 16"/>
          <p:cNvSpPr/>
          <p:nvPr/>
        </p:nvSpPr>
        <p:spPr>
          <a:xfrm>
            <a:off x="566928" y="3044952"/>
            <a:ext cx="2651760" cy="237744"/>
          </a:xfrm>
          <a:prstGeom prst="rect">
            <a:avLst/>
          </a:prstGeom>
          <a:noFill/>
          <a:ln/>
        </p:spPr>
        <p:txBody>
          <a:bodyPr wrap="square" lIns="0" tIns="0" rIns="0" bIns="0" rtlCol="0" anchor="ctr"/>
          <a:lstStyle/>
          <a:p>
            <a:pPr marL="0" indent="0" algn="ctr">
              <a:buNone/>
            </a:pPr>
            <a:r>
              <a:rPr lang="en-US" sz="900" dirty="0">
                <a:solidFill>
                  <a:srgbClr val="4B6B59"/>
                </a:solidFill>
                <a:latin typeface="Calibri" pitchFamily="34" charset="0"/>
                <a:ea typeface="Calibri" pitchFamily="34" charset="-122"/>
                <a:cs typeface="Calibri" pitchFamily="34" charset="-120"/>
              </a:rPr>
              <a:t>Rollback : re-taguer l'image précédente</a:t>
            </a:r>
            <a:endParaRPr lang="en-US" sz="900" dirty="0"/>
          </a:p>
        </p:txBody>
      </p:sp>
      <p:sp>
        <p:nvSpPr>
          <p:cNvPr id="19" name="Text 17"/>
          <p:cNvSpPr/>
          <p:nvPr/>
        </p:nvSpPr>
        <p:spPr>
          <a:xfrm>
            <a:off x="3383280" y="2514600"/>
            <a:ext cx="5257800" cy="8229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Image Docker multi-stage, Alpine, utilisateur non-root, poussée sur GHCR.</a:t>
            </a:r>
            <a:endParaRPr lang="en-US" sz="1100" dirty="0"/>
          </a:p>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Job SSH gated par la variable PROD_ENABLED : ne s'exécute qu'avec une cible.</a:t>
            </a:r>
            <a:endParaRPr lang="en-US" sz="1100" dirty="0"/>
          </a:p>
        </p:txBody>
      </p:sp>
      <p:sp>
        <p:nvSpPr>
          <p:cNvPr id="20" name="Shape 18"/>
          <p:cNvSpPr/>
          <p:nvPr/>
        </p:nvSpPr>
        <p:spPr>
          <a:xfrm>
            <a:off x="365760" y="3520440"/>
            <a:ext cx="8412480" cy="987552"/>
          </a:xfrm>
          <a:prstGeom prst="rect">
            <a:avLst/>
          </a:prstGeom>
          <a:solidFill>
            <a:srgbClr val="F7FAF6"/>
          </a:solidFill>
          <a:ln w="12700">
            <a:solidFill>
              <a:srgbClr val="F7FAF6"/>
            </a:solidFill>
            <a:prstDash val="solid"/>
          </a:ln>
        </p:spPr>
        <p:txBody>
          <a:bodyPr/>
          <a:lstStyle/>
          <a:p>
            <a:endParaRPr lang="fr-FR"/>
          </a:p>
        </p:txBody>
      </p:sp>
      <p:sp>
        <p:nvSpPr>
          <p:cNvPr id="21" name="Shape 19"/>
          <p:cNvSpPr/>
          <p:nvPr/>
        </p:nvSpPr>
        <p:spPr>
          <a:xfrm>
            <a:off x="365760" y="3520440"/>
            <a:ext cx="54864" cy="987552"/>
          </a:xfrm>
          <a:prstGeom prst="rect">
            <a:avLst/>
          </a:prstGeom>
          <a:solidFill>
            <a:srgbClr val="4B6B59"/>
          </a:solidFill>
          <a:ln w="12700">
            <a:solidFill>
              <a:srgbClr val="4B6B59"/>
            </a:solidFill>
            <a:prstDash val="solid"/>
          </a:ln>
        </p:spPr>
        <p:txBody>
          <a:bodyPr/>
          <a:lstStyle/>
          <a:p>
            <a:endParaRPr lang="fr-FR"/>
          </a:p>
        </p:txBody>
      </p:sp>
      <p:sp>
        <p:nvSpPr>
          <p:cNvPr id="22" name="Text 20"/>
          <p:cNvSpPr/>
          <p:nvPr/>
        </p:nvSpPr>
        <p:spPr>
          <a:xfrm>
            <a:off x="566928" y="3593592"/>
            <a:ext cx="2011680" cy="256032"/>
          </a:xfrm>
          <a:prstGeom prst="rect">
            <a:avLst/>
          </a:prstGeom>
          <a:noFill/>
          <a:ln/>
        </p:spPr>
        <p:txBody>
          <a:bodyPr wrap="square" lIns="0" tIns="0" rIns="0" bIns="0" rtlCol="0" anchor="ctr"/>
          <a:lstStyle/>
          <a:p>
            <a:pPr marL="0" indent="0">
              <a:buNone/>
            </a:pPr>
            <a:r>
              <a:rPr lang="en-US" sz="1350" b="1" dirty="0">
                <a:solidFill>
                  <a:srgbClr val="2C5F4A"/>
                </a:solidFill>
                <a:latin typeface="Calibri" pitchFamily="34" charset="0"/>
                <a:ea typeface="Calibri" pitchFamily="34" charset="-122"/>
                <a:cs typeface="Calibri" pitchFamily="34" charset="-120"/>
              </a:rPr>
              <a:t>Mobile — APK</a:t>
            </a:r>
            <a:endParaRPr lang="en-US" sz="1350" dirty="0"/>
          </a:p>
        </p:txBody>
      </p:sp>
      <p:sp>
        <p:nvSpPr>
          <p:cNvPr id="23" name="Shape 21"/>
          <p:cNvSpPr/>
          <p:nvPr/>
        </p:nvSpPr>
        <p:spPr>
          <a:xfrm>
            <a:off x="566928" y="4142232"/>
            <a:ext cx="2651760" cy="237744"/>
          </a:xfrm>
          <a:prstGeom prst="roundRect">
            <a:avLst>
              <a:gd name="adj" fmla="val 19231"/>
            </a:avLst>
          </a:prstGeom>
          <a:solidFill>
            <a:srgbClr val="E8F0EB"/>
          </a:solidFill>
          <a:ln w="12700">
            <a:solidFill>
              <a:srgbClr val="E8F0EB"/>
            </a:solidFill>
            <a:prstDash val="solid"/>
          </a:ln>
        </p:spPr>
        <p:txBody>
          <a:bodyPr/>
          <a:lstStyle/>
          <a:p>
            <a:endParaRPr lang="fr-FR"/>
          </a:p>
        </p:txBody>
      </p:sp>
      <p:sp>
        <p:nvSpPr>
          <p:cNvPr id="24" name="Text 22"/>
          <p:cNvSpPr/>
          <p:nvPr/>
        </p:nvSpPr>
        <p:spPr>
          <a:xfrm>
            <a:off x="566928" y="4142232"/>
            <a:ext cx="2651760" cy="237744"/>
          </a:xfrm>
          <a:prstGeom prst="rect">
            <a:avLst/>
          </a:prstGeom>
          <a:noFill/>
          <a:ln/>
        </p:spPr>
        <p:txBody>
          <a:bodyPr wrap="square" lIns="0" tIns="0" rIns="0" bIns="0" rtlCol="0" anchor="ctr"/>
          <a:lstStyle/>
          <a:p>
            <a:pPr marL="0" indent="0" algn="ctr">
              <a:buNone/>
            </a:pPr>
            <a:r>
              <a:rPr lang="en-US" sz="900" dirty="0">
                <a:solidFill>
                  <a:srgbClr val="4B6B59"/>
                </a:solidFill>
                <a:latin typeface="Calibri" pitchFamily="34" charset="0"/>
                <a:ea typeface="Calibri" pitchFamily="34" charset="-122"/>
                <a:cs typeface="Calibri" pitchFamily="34" charset="-120"/>
              </a:rPr>
              <a:t>Rollback : redistribuer l'APK stable</a:t>
            </a:r>
            <a:endParaRPr lang="en-US" sz="900" dirty="0"/>
          </a:p>
        </p:txBody>
      </p:sp>
      <p:sp>
        <p:nvSpPr>
          <p:cNvPr id="25" name="Text 23"/>
          <p:cNvSpPr/>
          <p:nvPr/>
        </p:nvSpPr>
        <p:spPr>
          <a:xfrm>
            <a:off x="3383280" y="3611880"/>
            <a:ext cx="5257800" cy="8229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APK release produit par la CI, publié en artefact GitHub (rétention 7 jours).</a:t>
            </a:r>
            <a:endParaRPr lang="en-US" sz="1100" dirty="0"/>
          </a:p>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Publication sur les stores hors périmètre du projet.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B6B59"/>
        </a:solidFill>
        <a:effectLst/>
      </p:bgPr>
    </p:bg>
    <p:spTree>
      <p:nvGrpSpPr>
        <p:cNvPr id="1" name=""/>
        <p:cNvGrpSpPr/>
        <p:nvPr/>
      </p:nvGrpSpPr>
      <p:grpSpPr>
        <a:xfrm>
          <a:off x="0" y="0"/>
          <a:ext cx="0" cy="0"/>
          <a:chOff x="0" y="0"/>
          <a:chExt cx="0" cy="0"/>
        </a:xfrm>
      </p:grpSpPr>
      <p:sp>
        <p:nvSpPr>
          <p:cNvPr id="2" name="Text 0"/>
          <p:cNvSpPr/>
          <p:nvPr/>
        </p:nvSpPr>
        <p:spPr>
          <a:xfrm>
            <a:off x="274320" y="137160"/>
            <a:ext cx="3657600" cy="3200400"/>
          </a:xfrm>
          <a:prstGeom prst="rect">
            <a:avLst/>
          </a:prstGeom>
          <a:noFill/>
          <a:ln/>
        </p:spPr>
        <p:txBody>
          <a:bodyPr wrap="square" lIns="0" tIns="0" rIns="0" bIns="0" rtlCol="0" anchor="t"/>
          <a:lstStyle/>
          <a:p>
            <a:pPr marL="0" indent="0">
              <a:buNone/>
            </a:pPr>
            <a:r>
              <a:rPr lang="en-US" sz="13000" b="1" dirty="0">
                <a:solidFill>
                  <a:srgbClr val="6BA382"/>
                </a:solidFill>
                <a:latin typeface="Calibri" pitchFamily="34" charset="0"/>
                <a:ea typeface="Calibri" pitchFamily="34" charset="-122"/>
                <a:cs typeface="Calibri" pitchFamily="34" charset="-120"/>
              </a:rPr>
              <a:t>02</a:t>
            </a:r>
            <a:endParaRPr lang="en-US" sz="13000" dirty="0"/>
          </a:p>
        </p:txBody>
      </p:sp>
      <p:sp>
        <p:nvSpPr>
          <p:cNvPr id="3" name="Text 1"/>
          <p:cNvSpPr/>
          <p:nvPr/>
        </p:nvSpPr>
        <p:spPr>
          <a:xfrm>
            <a:off x="548640" y="1965960"/>
            <a:ext cx="8046720" cy="9144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Maintenance</a:t>
            </a:r>
            <a:endParaRPr lang="en-US" sz="3600" dirty="0"/>
          </a:p>
        </p:txBody>
      </p:sp>
      <p:sp>
        <p:nvSpPr>
          <p:cNvPr id="4" name="Text 2"/>
          <p:cNvSpPr/>
          <p:nvPr/>
        </p:nvSpPr>
        <p:spPr>
          <a:xfrm>
            <a:off x="548640" y="2926080"/>
            <a:ext cx="8046720" cy="457200"/>
          </a:xfrm>
          <a:prstGeom prst="rect">
            <a:avLst/>
          </a:prstGeom>
          <a:noFill/>
          <a:ln/>
        </p:spPr>
        <p:txBody>
          <a:bodyPr wrap="square" lIns="0" tIns="0" rIns="0" bIns="0" rtlCol="0" anchor="ctr"/>
          <a:lstStyle/>
          <a:p>
            <a:pPr marL="0" indent="0">
              <a:buNone/>
            </a:pPr>
            <a:r>
              <a:rPr lang="en-US" sz="1700" dirty="0">
                <a:solidFill>
                  <a:srgbClr val="A8DADC"/>
                </a:solidFill>
                <a:latin typeface="Calibri" pitchFamily="34" charset="0"/>
                <a:ea typeface="Calibri" pitchFamily="34" charset="-122"/>
                <a:cs typeface="Calibri" pitchFamily="34" charset="-120"/>
              </a:rPr>
              <a:t>Ticketing · maintenance préventive · SLA et contractualisation · veille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1321308"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132130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DÉMONSTRATION</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Outil de ticketing : GitHub Issues configuré</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Démonstration live · configuration identique sur les trois dépôts</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8" name="Shape 6"/>
          <p:cNvSpPr/>
          <p:nvPr/>
        </p:nvSpPr>
        <p:spPr>
          <a:xfrm>
            <a:off x="365760" y="1325880"/>
            <a:ext cx="4114800" cy="1965960"/>
          </a:xfrm>
          <a:prstGeom prst="rect">
            <a:avLst/>
          </a:prstGeom>
          <a:solidFill>
            <a:srgbClr val="F7FAF6"/>
          </a:solidFill>
          <a:ln w="12700">
            <a:solidFill>
              <a:srgbClr val="F7FAF6"/>
            </a:solidFill>
            <a:prstDash val="solid"/>
          </a:ln>
        </p:spPr>
        <p:txBody>
          <a:bodyPr/>
          <a:lstStyle/>
          <a:p>
            <a:endParaRPr lang="fr-FR"/>
          </a:p>
        </p:txBody>
      </p:sp>
      <p:sp>
        <p:nvSpPr>
          <p:cNvPr id="9" name="Shape 7"/>
          <p:cNvSpPr/>
          <p:nvPr/>
        </p:nvSpPr>
        <p:spPr>
          <a:xfrm>
            <a:off x="365760" y="1325880"/>
            <a:ext cx="54864" cy="1965960"/>
          </a:xfrm>
          <a:prstGeom prst="rect">
            <a:avLst/>
          </a:prstGeom>
          <a:solidFill>
            <a:srgbClr val="4B6B59"/>
          </a:solidFill>
          <a:ln w="12700">
            <a:solidFill>
              <a:srgbClr val="4B6B59"/>
            </a:solidFill>
            <a:prstDash val="solid"/>
          </a:ln>
        </p:spPr>
        <p:txBody>
          <a:bodyPr/>
          <a:lstStyle/>
          <a:p>
            <a:endParaRPr lang="fr-FR"/>
          </a:p>
        </p:txBody>
      </p:sp>
      <p:sp>
        <p:nvSpPr>
          <p:cNvPr id="10" name="Text 8"/>
          <p:cNvSpPr/>
          <p:nvPr/>
        </p:nvSpPr>
        <p:spPr>
          <a:xfrm>
            <a:off x="548640" y="1417320"/>
            <a:ext cx="374904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Trois formulaires guidés</a:t>
            </a:r>
            <a:endParaRPr lang="en-US" sz="1250" dirty="0"/>
          </a:p>
        </p:txBody>
      </p:sp>
      <p:sp>
        <p:nvSpPr>
          <p:cNvPr id="11" name="Text 9"/>
          <p:cNvSpPr/>
          <p:nvPr/>
        </p:nvSpPr>
        <p:spPr>
          <a:xfrm>
            <a:off x="548640" y="1719072"/>
            <a:ext cx="3749040" cy="14630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Bug — reproduction, criticité, environnement (champs obligatoires)</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Fonctionnalité — besoin et critères d'acceptation</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Question — support et usage</a:t>
            </a:r>
            <a:endParaRPr lang="en-US" sz="1150" dirty="0"/>
          </a:p>
        </p:txBody>
      </p:sp>
      <p:sp>
        <p:nvSpPr>
          <p:cNvPr id="12" name="Shape 10"/>
          <p:cNvSpPr/>
          <p:nvPr/>
        </p:nvSpPr>
        <p:spPr>
          <a:xfrm>
            <a:off x="4663440" y="1325880"/>
            <a:ext cx="4114800" cy="1965960"/>
          </a:xfrm>
          <a:prstGeom prst="rect">
            <a:avLst/>
          </a:prstGeom>
          <a:solidFill>
            <a:srgbClr val="F7FAF6"/>
          </a:solidFill>
          <a:ln w="12700">
            <a:solidFill>
              <a:srgbClr val="F7FAF6"/>
            </a:solidFill>
            <a:prstDash val="solid"/>
          </a:ln>
        </p:spPr>
        <p:txBody>
          <a:bodyPr/>
          <a:lstStyle/>
          <a:p>
            <a:endParaRPr lang="fr-FR"/>
          </a:p>
        </p:txBody>
      </p:sp>
      <p:sp>
        <p:nvSpPr>
          <p:cNvPr id="13" name="Shape 11"/>
          <p:cNvSpPr/>
          <p:nvPr/>
        </p:nvSpPr>
        <p:spPr>
          <a:xfrm>
            <a:off x="4663440" y="1325880"/>
            <a:ext cx="54864" cy="1965960"/>
          </a:xfrm>
          <a:prstGeom prst="rect">
            <a:avLst/>
          </a:prstGeom>
          <a:solidFill>
            <a:srgbClr val="4B6B59"/>
          </a:solidFill>
          <a:ln w="12700">
            <a:solidFill>
              <a:srgbClr val="4B6B59"/>
            </a:solidFill>
            <a:prstDash val="solid"/>
          </a:ln>
        </p:spPr>
        <p:txBody>
          <a:bodyPr/>
          <a:lstStyle/>
          <a:p>
            <a:endParaRPr lang="fr-FR"/>
          </a:p>
        </p:txBody>
      </p:sp>
      <p:sp>
        <p:nvSpPr>
          <p:cNvPr id="14" name="Text 12"/>
          <p:cNvSpPr/>
          <p:nvPr/>
        </p:nvSpPr>
        <p:spPr>
          <a:xfrm>
            <a:off x="4846320" y="1417320"/>
            <a:ext cx="374904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Organisation du suivi</a:t>
            </a:r>
            <a:endParaRPr lang="en-US" sz="1250" dirty="0"/>
          </a:p>
        </p:txBody>
      </p:sp>
      <p:sp>
        <p:nvSpPr>
          <p:cNvPr id="15" name="Text 13"/>
          <p:cNvSpPr/>
          <p:nvPr/>
        </p:nvSpPr>
        <p:spPr>
          <a:xfrm>
            <a:off x="4846320" y="1719072"/>
            <a:ext cx="3749040" cy="14630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Labels homogènes : bug, enhancement, security, dependencies, documentation, question</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Milestone BL3 par dépôt, avec barre de progression</a:t>
            </a:r>
            <a:endParaRPr lang="en-US" sz="1150" dirty="0"/>
          </a:p>
        </p:txBody>
      </p:sp>
      <p:sp>
        <p:nvSpPr>
          <p:cNvPr id="16" name="Shape 14"/>
          <p:cNvSpPr/>
          <p:nvPr/>
        </p:nvSpPr>
        <p:spPr>
          <a:xfrm>
            <a:off x="365760" y="3429000"/>
            <a:ext cx="8412480" cy="1143000"/>
          </a:xfrm>
          <a:prstGeom prst="rect">
            <a:avLst/>
          </a:prstGeom>
          <a:solidFill>
            <a:srgbClr val="F7FAF6"/>
          </a:solidFill>
          <a:ln w="12700">
            <a:solidFill>
              <a:srgbClr val="F7FAF6"/>
            </a:solidFill>
            <a:prstDash val="solid"/>
          </a:ln>
        </p:spPr>
        <p:txBody>
          <a:bodyPr/>
          <a:lstStyle/>
          <a:p>
            <a:endParaRPr lang="fr-FR"/>
          </a:p>
        </p:txBody>
      </p:sp>
      <p:sp>
        <p:nvSpPr>
          <p:cNvPr id="17" name="Shape 15"/>
          <p:cNvSpPr/>
          <p:nvPr/>
        </p:nvSpPr>
        <p:spPr>
          <a:xfrm>
            <a:off x="365760" y="3429000"/>
            <a:ext cx="54864" cy="1143000"/>
          </a:xfrm>
          <a:prstGeom prst="rect">
            <a:avLst/>
          </a:prstGeom>
          <a:solidFill>
            <a:srgbClr val="4B6B59"/>
          </a:solidFill>
          <a:ln w="12700">
            <a:solidFill>
              <a:srgbClr val="4B6B59"/>
            </a:solidFill>
            <a:prstDash val="solid"/>
          </a:ln>
        </p:spPr>
        <p:txBody>
          <a:bodyPr/>
          <a:lstStyle/>
          <a:p>
            <a:endParaRPr lang="fr-FR"/>
          </a:p>
        </p:txBody>
      </p:sp>
      <p:sp>
        <p:nvSpPr>
          <p:cNvPr id="18" name="Text 16"/>
          <p:cNvSpPr/>
          <p:nvPr/>
        </p:nvSpPr>
        <p:spPr>
          <a:xfrm>
            <a:off x="566928" y="3520440"/>
            <a:ext cx="365760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Deux garde-fous</a:t>
            </a:r>
            <a:endParaRPr lang="en-US" sz="1250" dirty="0"/>
          </a:p>
        </p:txBody>
      </p:sp>
      <p:sp>
        <p:nvSpPr>
          <p:cNvPr id="19" name="Text 17"/>
          <p:cNvSpPr/>
          <p:nvPr/>
        </p:nvSpPr>
        <p:spPr>
          <a:xfrm>
            <a:off x="566928" y="3794760"/>
            <a:ext cx="8046720" cy="7315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Les issues vierges sont désactivées : impossible d'ouvrir un ticket sans les informations minimales.</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Une faille de sécurité ne passe jamais par une issue publique — elle est redirigée vers un advisory privé.</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1243584"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12435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MÉTHODOLOGIE</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Traitement d'une issue, du dépôt à la fermeture</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Le même cycle pour tous les signalements</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pic>
        <p:nvPicPr>
          <p:cNvPr id="8" name="Image 0" descr="C:\Users\Elio\AppData\Local\Temp\claude\C--Users-Elio-Documents-GitHub-api-zen\91c4ecb7-4e2d-4c95-a0ac-701930e72d98\scratchpad\issueflow.png"/>
          <p:cNvPicPr>
            <a:picLocks noChangeAspect="1"/>
          </p:cNvPicPr>
          <p:nvPr/>
        </p:nvPicPr>
        <p:blipFill>
          <a:blip r:embed="rId3"/>
          <a:stretch>
            <a:fillRect/>
          </a:stretch>
        </p:blipFill>
        <p:spPr>
          <a:xfrm>
            <a:off x="365760" y="1371600"/>
            <a:ext cx="4846320" cy="2679192"/>
          </a:xfrm>
          <a:prstGeom prst="rect">
            <a:avLst/>
          </a:prstGeom>
        </p:spPr>
      </p:pic>
      <p:sp>
        <p:nvSpPr>
          <p:cNvPr id="9" name="Shape 6"/>
          <p:cNvSpPr/>
          <p:nvPr/>
        </p:nvSpPr>
        <p:spPr>
          <a:xfrm>
            <a:off x="5394960" y="1325880"/>
            <a:ext cx="3383280" cy="1828800"/>
          </a:xfrm>
          <a:prstGeom prst="rect">
            <a:avLst/>
          </a:prstGeom>
          <a:solidFill>
            <a:srgbClr val="F7FAF6"/>
          </a:solidFill>
          <a:ln w="12700">
            <a:solidFill>
              <a:srgbClr val="F7FAF6"/>
            </a:solidFill>
            <a:prstDash val="solid"/>
          </a:ln>
        </p:spPr>
        <p:txBody>
          <a:bodyPr/>
          <a:lstStyle/>
          <a:p>
            <a:endParaRPr lang="fr-FR"/>
          </a:p>
        </p:txBody>
      </p:sp>
      <p:sp>
        <p:nvSpPr>
          <p:cNvPr id="10" name="Shape 7"/>
          <p:cNvSpPr/>
          <p:nvPr/>
        </p:nvSpPr>
        <p:spPr>
          <a:xfrm>
            <a:off x="5394960" y="1325880"/>
            <a:ext cx="54864" cy="1828800"/>
          </a:xfrm>
          <a:prstGeom prst="rect">
            <a:avLst/>
          </a:prstGeom>
          <a:solidFill>
            <a:srgbClr val="4B6B59"/>
          </a:solidFill>
          <a:ln w="12700">
            <a:solidFill>
              <a:srgbClr val="4B6B59"/>
            </a:solidFill>
            <a:prstDash val="solid"/>
          </a:ln>
        </p:spPr>
        <p:txBody>
          <a:bodyPr/>
          <a:lstStyle/>
          <a:p>
            <a:endParaRPr lang="fr-FR"/>
          </a:p>
        </p:txBody>
      </p:sp>
      <p:sp>
        <p:nvSpPr>
          <p:cNvPr id="11" name="Text 8"/>
          <p:cNvSpPr/>
          <p:nvPr/>
        </p:nvSpPr>
        <p:spPr>
          <a:xfrm>
            <a:off x="5577840" y="1417320"/>
            <a:ext cx="301752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Règle de fermeture</a:t>
            </a:r>
            <a:endParaRPr lang="en-US" sz="1250" dirty="0"/>
          </a:p>
        </p:txBody>
      </p:sp>
      <p:sp>
        <p:nvSpPr>
          <p:cNvPr id="12" name="Text 9"/>
          <p:cNvSpPr/>
          <p:nvPr/>
        </p:nvSpPr>
        <p:spPr>
          <a:xfrm>
            <a:off x="5577840" y="1719072"/>
            <a:ext cx="3017520" cy="1325880"/>
          </a:xfrm>
          <a:prstGeom prst="rect">
            <a:avLst/>
          </a:prstGeom>
          <a:noFill/>
          <a:ln/>
        </p:spPr>
        <p:txBody>
          <a:bodyPr wrap="square" lIns="0" tIns="0" rIns="0" bIns="0" rtlCol="0" anchor="ctr"/>
          <a:lstStyle/>
          <a:p>
            <a:pPr marL="0" indent="0">
              <a:buNone/>
            </a:pPr>
            <a:r>
              <a:rPr lang="en-US" sz="1150" dirty="0">
                <a:solidFill>
                  <a:srgbClr val="1F2A24"/>
                </a:solidFill>
                <a:latin typeface="Calibri" pitchFamily="34" charset="0"/>
                <a:ea typeface="Calibri" pitchFamily="34" charset="-122"/>
                <a:cs typeface="Calibri" pitchFamily="34" charset="-120"/>
              </a:rPr>
              <a:t>Une issue n'est jamais laissée ouverte à vide : soit elle est corrigée et fermée « completed » avec la PR qui la référence, soit elle est fermée « not planned » avec une justification écrite.</a:t>
            </a:r>
            <a:endParaRPr lang="en-US" sz="1150" dirty="0"/>
          </a:p>
        </p:txBody>
      </p:sp>
      <p:sp>
        <p:nvSpPr>
          <p:cNvPr id="13" name="Shape 10"/>
          <p:cNvSpPr/>
          <p:nvPr/>
        </p:nvSpPr>
        <p:spPr>
          <a:xfrm>
            <a:off x="5394960" y="3291840"/>
            <a:ext cx="3383280" cy="1280160"/>
          </a:xfrm>
          <a:prstGeom prst="rect">
            <a:avLst/>
          </a:prstGeom>
          <a:solidFill>
            <a:srgbClr val="F7FAF6"/>
          </a:solidFill>
          <a:ln w="12700">
            <a:solidFill>
              <a:srgbClr val="F7FAF6"/>
            </a:solidFill>
            <a:prstDash val="solid"/>
          </a:ln>
        </p:spPr>
        <p:txBody>
          <a:bodyPr/>
          <a:lstStyle/>
          <a:p>
            <a:endParaRPr lang="fr-FR"/>
          </a:p>
        </p:txBody>
      </p:sp>
      <p:sp>
        <p:nvSpPr>
          <p:cNvPr id="14" name="Shape 11"/>
          <p:cNvSpPr/>
          <p:nvPr/>
        </p:nvSpPr>
        <p:spPr>
          <a:xfrm>
            <a:off x="5394960" y="3291840"/>
            <a:ext cx="54864" cy="1280160"/>
          </a:xfrm>
          <a:prstGeom prst="rect">
            <a:avLst/>
          </a:prstGeom>
          <a:solidFill>
            <a:srgbClr val="4B6B59"/>
          </a:solidFill>
          <a:ln w="12700">
            <a:solidFill>
              <a:srgbClr val="4B6B59"/>
            </a:solidFill>
            <a:prstDash val="solid"/>
          </a:ln>
        </p:spPr>
        <p:txBody>
          <a:bodyPr/>
          <a:lstStyle/>
          <a:p>
            <a:endParaRPr lang="fr-FR"/>
          </a:p>
        </p:txBody>
      </p:sp>
      <p:sp>
        <p:nvSpPr>
          <p:cNvPr id="15" name="Text 12"/>
          <p:cNvSpPr/>
          <p:nvPr/>
        </p:nvSpPr>
        <p:spPr>
          <a:xfrm>
            <a:off x="5577840" y="3364992"/>
            <a:ext cx="301752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Deux cas réels du projet</a:t>
            </a:r>
            <a:endParaRPr lang="en-US" sz="1250" dirty="0"/>
          </a:p>
        </p:txBody>
      </p:sp>
      <p:sp>
        <p:nvSpPr>
          <p:cNvPr id="16" name="Text 13"/>
          <p:cNvSpPr/>
          <p:nvPr/>
        </p:nvSpPr>
        <p:spPr>
          <a:xfrm>
            <a:off x="5577840" y="3621024"/>
            <a:ext cx="3017520" cy="8686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F2A24"/>
                </a:solidFill>
                <a:latin typeface="Calibri" pitchFamily="34" charset="0"/>
                <a:ea typeface="Calibri" pitchFamily="34" charset="-122"/>
                <a:cs typeface="Calibri" pitchFamily="34" charset="-120"/>
              </a:rPr>
              <a:t>react-day-picker 9→10 : bump cassant, fermé puis neutralisé par une règle Dependabot.</a:t>
            </a:r>
            <a:endParaRPr lang="en-US" sz="1050" dirty="0"/>
          </a:p>
          <a:p>
            <a:pPr marL="342900" indent="-342900">
              <a:spcAft>
                <a:spcPts val="600"/>
              </a:spcAft>
              <a:buSzPct val="100000"/>
              <a:buChar char="•"/>
            </a:pPr>
            <a:r>
              <a:rPr lang="en-US" sz="1050" dirty="0">
                <a:solidFill>
                  <a:srgbClr val="1F2A24"/>
                </a:solidFill>
                <a:latin typeface="Calibri" pitchFamily="34" charset="0"/>
                <a:ea typeface="Calibri" pitchFamily="34" charset="-122"/>
                <a:cs typeface="Calibri" pitchFamily="34" charset="-120"/>
              </a:rPr>
              <a:t>Bug d'authentification : fermé « non reproductible » après vérification du code.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1010412"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1010412"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PRÉVENTIF</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Maintenance préventive : mises à jour et scans</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Anticiper la défaillance plutôt que la subir</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8" name="Shape 6"/>
          <p:cNvSpPr/>
          <p:nvPr/>
        </p:nvSpPr>
        <p:spPr>
          <a:xfrm>
            <a:off x="365760" y="1325880"/>
            <a:ext cx="2688336" cy="914400"/>
          </a:xfrm>
          <a:prstGeom prst="rect">
            <a:avLst/>
          </a:prstGeom>
          <a:solidFill>
            <a:srgbClr val="F7FAF6"/>
          </a:solidFill>
          <a:ln w="12700">
            <a:solidFill>
              <a:srgbClr val="F7FAF6"/>
            </a:solidFill>
            <a:prstDash val="solid"/>
          </a:ln>
        </p:spPr>
        <p:txBody>
          <a:bodyPr/>
          <a:lstStyle/>
          <a:p>
            <a:endParaRPr lang="fr-FR"/>
          </a:p>
        </p:txBody>
      </p:sp>
      <p:sp>
        <p:nvSpPr>
          <p:cNvPr id="9" name="Shape 7"/>
          <p:cNvSpPr/>
          <p:nvPr/>
        </p:nvSpPr>
        <p:spPr>
          <a:xfrm>
            <a:off x="365760" y="1325880"/>
            <a:ext cx="54864" cy="914400"/>
          </a:xfrm>
          <a:prstGeom prst="rect">
            <a:avLst/>
          </a:prstGeom>
          <a:solidFill>
            <a:srgbClr val="4B6B59"/>
          </a:solidFill>
          <a:ln w="12700">
            <a:solidFill>
              <a:srgbClr val="4B6B59"/>
            </a:solidFill>
            <a:prstDash val="solid"/>
          </a:ln>
        </p:spPr>
        <p:txBody>
          <a:bodyPr/>
          <a:lstStyle/>
          <a:p>
            <a:endParaRPr lang="fr-FR"/>
          </a:p>
        </p:txBody>
      </p:sp>
      <p:sp>
        <p:nvSpPr>
          <p:cNvPr id="10" name="Text 8"/>
          <p:cNvSpPr/>
          <p:nvPr/>
        </p:nvSpPr>
        <p:spPr>
          <a:xfrm>
            <a:off x="548640" y="1389888"/>
            <a:ext cx="2286000" cy="502920"/>
          </a:xfrm>
          <a:prstGeom prst="rect">
            <a:avLst/>
          </a:prstGeom>
          <a:noFill/>
          <a:ln/>
        </p:spPr>
        <p:txBody>
          <a:bodyPr wrap="square" lIns="0" tIns="0" rIns="0" bIns="0" rtlCol="0" anchor="ctr"/>
          <a:lstStyle/>
          <a:p>
            <a:pPr marL="0" indent="0">
              <a:buNone/>
            </a:pPr>
            <a:r>
              <a:rPr lang="en-US" sz="3000" b="1" dirty="0">
                <a:solidFill>
                  <a:srgbClr val="4B6B59"/>
                </a:solidFill>
                <a:latin typeface="Calibri" pitchFamily="34" charset="0"/>
                <a:ea typeface="Calibri" pitchFamily="34" charset="-122"/>
                <a:cs typeface="Calibri" pitchFamily="34" charset="-120"/>
              </a:rPr>
              <a:t>3</a:t>
            </a:r>
            <a:endParaRPr lang="en-US" sz="3000" dirty="0"/>
          </a:p>
        </p:txBody>
      </p:sp>
      <p:sp>
        <p:nvSpPr>
          <p:cNvPr id="11" name="Text 9"/>
          <p:cNvSpPr/>
          <p:nvPr/>
        </p:nvSpPr>
        <p:spPr>
          <a:xfrm>
            <a:off x="548640" y="1874520"/>
            <a:ext cx="2286000" cy="274320"/>
          </a:xfrm>
          <a:prstGeom prst="rect">
            <a:avLst/>
          </a:prstGeom>
          <a:noFill/>
          <a:ln/>
        </p:spPr>
        <p:txBody>
          <a:bodyPr wrap="square" lIns="0" tIns="0" rIns="0" bIns="0" rtlCol="0" anchor="ctr"/>
          <a:lstStyle/>
          <a:p>
            <a:pPr marL="0" indent="0">
              <a:buNone/>
            </a:pPr>
            <a:r>
              <a:rPr lang="en-US" sz="1100" dirty="0">
                <a:solidFill>
                  <a:srgbClr val="7A9A87"/>
                </a:solidFill>
                <a:latin typeface="Calibri" pitchFamily="34" charset="0"/>
                <a:ea typeface="Calibri" pitchFamily="34" charset="-122"/>
                <a:cs typeface="Calibri" pitchFamily="34" charset="-120"/>
              </a:rPr>
              <a:t>dépôts couverts</a:t>
            </a:r>
            <a:endParaRPr lang="en-US" sz="1100" dirty="0"/>
          </a:p>
        </p:txBody>
      </p:sp>
      <p:sp>
        <p:nvSpPr>
          <p:cNvPr id="12" name="Shape 10"/>
          <p:cNvSpPr/>
          <p:nvPr/>
        </p:nvSpPr>
        <p:spPr>
          <a:xfrm>
            <a:off x="3227832" y="1325880"/>
            <a:ext cx="2688336" cy="914400"/>
          </a:xfrm>
          <a:prstGeom prst="rect">
            <a:avLst/>
          </a:prstGeom>
          <a:solidFill>
            <a:srgbClr val="F7FAF6"/>
          </a:solidFill>
          <a:ln w="12700">
            <a:solidFill>
              <a:srgbClr val="F7FAF6"/>
            </a:solidFill>
            <a:prstDash val="solid"/>
          </a:ln>
        </p:spPr>
        <p:txBody>
          <a:bodyPr/>
          <a:lstStyle/>
          <a:p>
            <a:endParaRPr lang="fr-FR"/>
          </a:p>
        </p:txBody>
      </p:sp>
      <p:sp>
        <p:nvSpPr>
          <p:cNvPr id="13" name="Shape 11"/>
          <p:cNvSpPr/>
          <p:nvPr/>
        </p:nvSpPr>
        <p:spPr>
          <a:xfrm>
            <a:off x="3227832" y="1325880"/>
            <a:ext cx="54864" cy="914400"/>
          </a:xfrm>
          <a:prstGeom prst="rect">
            <a:avLst/>
          </a:prstGeom>
          <a:solidFill>
            <a:srgbClr val="4B6B59"/>
          </a:solidFill>
          <a:ln w="12700">
            <a:solidFill>
              <a:srgbClr val="4B6B59"/>
            </a:solidFill>
            <a:prstDash val="solid"/>
          </a:ln>
        </p:spPr>
        <p:txBody>
          <a:bodyPr/>
          <a:lstStyle/>
          <a:p>
            <a:endParaRPr lang="fr-FR"/>
          </a:p>
        </p:txBody>
      </p:sp>
      <p:sp>
        <p:nvSpPr>
          <p:cNvPr id="14" name="Text 12"/>
          <p:cNvSpPr/>
          <p:nvPr/>
        </p:nvSpPr>
        <p:spPr>
          <a:xfrm>
            <a:off x="3410712" y="1389888"/>
            <a:ext cx="2286000" cy="502920"/>
          </a:xfrm>
          <a:prstGeom prst="rect">
            <a:avLst/>
          </a:prstGeom>
          <a:noFill/>
          <a:ln/>
        </p:spPr>
        <p:txBody>
          <a:bodyPr wrap="square" lIns="0" tIns="0" rIns="0" bIns="0" rtlCol="0" anchor="ctr"/>
          <a:lstStyle/>
          <a:p>
            <a:pPr marL="0" indent="0">
              <a:buNone/>
            </a:pPr>
            <a:r>
              <a:rPr lang="en-US" sz="3000" b="1" dirty="0">
                <a:solidFill>
                  <a:srgbClr val="4B6B59"/>
                </a:solidFill>
                <a:latin typeface="Calibri" pitchFamily="34" charset="0"/>
                <a:ea typeface="Calibri" pitchFamily="34" charset="-122"/>
                <a:cs typeface="Calibri" pitchFamily="34" charset="-120"/>
              </a:rPr>
              <a:t>5</a:t>
            </a:r>
            <a:endParaRPr lang="en-US" sz="3000" dirty="0"/>
          </a:p>
        </p:txBody>
      </p:sp>
      <p:sp>
        <p:nvSpPr>
          <p:cNvPr id="15" name="Text 13"/>
          <p:cNvSpPr/>
          <p:nvPr/>
        </p:nvSpPr>
        <p:spPr>
          <a:xfrm>
            <a:off x="3410712" y="1874520"/>
            <a:ext cx="2286000" cy="274320"/>
          </a:xfrm>
          <a:prstGeom prst="rect">
            <a:avLst/>
          </a:prstGeom>
          <a:noFill/>
          <a:ln/>
        </p:spPr>
        <p:txBody>
          <a:bodyPr wrap="square" lIns="0" tIns="0" rIns="0" bIns="0" rtlCol="0" anchor="ctr"/>
          <a:lstStyle/>
          <a:p>
            <a:pPr marL="0" indent="0">
              <a:buNone/>
            </a:pPr>
            <a:r>
              <a:rPr lang="en-US" sz="1100" dirty="0">
                <a:solidFill>
                  <a:srgbClr val="7A9A87"/>
                </a:solidFill>
                <a:latin typeface="Calibri" pitchFamily="34" charset="0"/>
                <a:ea typeface="Calibri" pitchFamily="34" charset="-122"/>
                <a:cs typeface="Calibri" pitchFamily="34" charset="-120"/>
              </a:rPr>
              <a:t>écosystèmes suivis</a:t>
            </a:r>
            <a:endParaRPr lang="en-US" sz="1100" dirty="0"/>
          </a:p>
        </p:txBody>
      </p:sp>
      <p:sp>
        <p:nvSpPr>
          <p:cNvPr id="16" name="Shape 14"/>
          <p:cNvSpPr/>
          <p:nvPr/>
        </p:nvSpPr>
        <p:spPr>
          <a:xfrm>
            <a:off x="6089904" y="1325880"/>
            <a:ext cx="2688336" cy="914400"/>
          </a:xfrm>
          <a:prstGeom prst="rect">
            <a:avLst/>
          </a:prstGeom>
          <a:solidFill>
            <a:srgbClr val="F7FAF6"/>
          </a:solidFill>
          <a:ln w="12700">
            <a:solidFill>
              <a:srgbClr val="F7FAF6"/>
            </a:solidFill>
            <a:prstDash val="solid"/>
          </a:ln>
        </p:spPr>
        <p:txBody>
          <a:bodyPr/>
          <a:lstStyle/>
          <a:p>
            <a:endParaRPr lang="fr-FR"/>
          </a:p>
        </p:txBody>
      </p:sp>
      <p:sp>
        <p:nvSpPr>
          <p:cNvPr id="17" name="Shape 15"/>
          <p:cNvSpPr/>
          <p:nvPr/>
        </p:nvSpPr>
        <p:spPr>
          <a:xfrm>
            <a:off x="6089904" y="1325880"/>
            <a:ext cx="54864" cy="914400"/>
          </a:xfrm>
          <a:prstGeom prst="rect">
            <a:avLst/>
          </a:prstGeom>
          <a:solidFill>
            <a:srgbClr val="4B6B59"/>
          </a:solidFill>
          <a:ln w="12700">
            <a:solidFill>
              <a:srgbClr val="4B6B59"/>
            </a:solidFill>
            <a:prstDash val="solid"/>
          </a:ln>
        </p:spPr>
        <p:txBody>
          <a:bodyPr/>
          <a:lstStyle/>
          <a:p>
            <a:endParaRPr lang="fr-FR"/>
          </a:p>
        </p:txBody>
      </p:sp>
      <p:sp>
        <p:nvSpPr>
          <p:cNvPr id="18" name="Text 16"/>
          <p:cNvSpPr/>
          <p:nvPr/>
        </p:nvSpPr>
        <p:spPr>
          <a:xfrm>
            <a:off x="6272784" y="1389888"/>
            <a:ext cx="2286000" cy="502920"/>
          </a:xfrm>
          <a:prstGeom prst="rect">
            <a:avLst/>
          </a:prstGeom>
          <a:noFill/>
          <a:ln/>
        </p:spPr>
        <p:txBody>
          <a:bodyPr wrap="square" lIns="0" tIns="0" rIns="0" bIns="0" rtlCol="0" anchor="ctr"/>
          <a:lstStyle/>
          <a:p>
            <a:pPr marL="0" indent="0">
              <a:buNone/>
            </a:pPr>
            <a:r>
              <a:rPr lang="en-US" sz="3000" b="1" dirty="0">
                <a:solidFill>
                  <a:srgbClr val="4B6B59"/>
                </a:solidFill>
                <a:latin typeface="Calibri" pitchFamily="34" charset="0"/>
                <a:ea typeface="Calibri" pitchFamily="34" charset="-122"/>
                <a:cs typeface="Calibri" pitchFamily="34" charset="-120"/>
              </a:rPr>
              <a:t>24 h</a:t>
            </a:r>
            <a:endParaRPr lang="en-US" sz="3000" dirty="0"/>
          </a:p>
        </p:txBody>
      </p:sp>
      <p:sp>
        <p:nvSpPr>
          <p:cNvPr id="19" name="Text 17"/>
          <p:cNvSpPr/>
          <p:nvPr/>
        </p:nvSpPr>
        <p:spPr>
          <a:xfrm>
            <a:off x="6272784" y="1874520"/>
            <a:ext cx="2286000" cy="274320"/>
          </a:xfrm>
          <a:prstGeom prst="rect">
            <a:avLst/>
          </a:prstGeom>
          <a:noFill/>
          <a:ln/>
        </p:spPr>
        <p:txBody>
          <a:bodyPr wrap="square" lIns="0" tIns="0" rIns="0" bIns="0" rtlCol="0" anchor="ctr"/>
          <a:lstStyle/>
          <a:p>
            <a:pPr marL="0" indent="0">
              <a:buNone/>
            </a:pPr>
            <a:r>
              <a:rPr lang="en-US" sz="1100" dirty="0">
                <a:solidFill>
                  <a:srgbClr val="7A9A87"/>
                </a:solidFill>
                <a:latin typeface="Calibri" pitchFamily="34" charset="0"/>
                <a:ea typeface="Calibri" pitchFamily="34" charset="-122"/>
                <a:cs typeface="Calibri" pitchFamily="34" charset="-120"/>
              </a:rPr>
              <a:t>cycle de scan</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2377440"/>
          <a:ext cx="8412480" cy="1883664"/>
        </p:xfrm>
        <a:graphic>
          <a:graphicData uri="http://schemas.openxmlformats.org/drawingml/2006/table">
            <a:tbl>
              <a:tblPr/>
              <a:tblGrid>
                <a:gridCol w="19202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01752">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Dispositif</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Portée</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Fréquence</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Effet si échec</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extLst>
                  <a:ext uri="{0D108BD9-81ED-4DB2-BD59-A6C34878D82A}">
                    <a16:rowId xmlns:a16="http://schemas.microsoft.com/office/drawing/2014/main" val="10000"/>
                  </a:ext>
                </a:extLst>
              </a:tr>
              <a:tr h="301752">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Dependabot</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Maven, npm, pub, Docker, GitHub Actions</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Hebdomadaire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Ouvre une PR de montée de version</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Trivy</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CVE, secrets, mauvaises configurations, image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Push + nuit</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CI en échec si CRITICAL/HIGH corrigible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extLst>
                  <a:ext uri="{0D108BD9-81ED-4DB2-BD59-A6C34878D82A}">
                    <a16:rowId xmlns:a16="http://schemas.microsoft.com/office/drawing/2014/main" val="10002"/>
                  </a:ext>
                </a:extLst>
              </a:tr>
              <a:tr h="301752">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Gitleaks</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Secrets dans l'historique git</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Push + nuit</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Merge bloqué</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OWASP Dependency Check</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Scan NVD approfondi (API)</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Nocturne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Rapport SARIF dans l'onglet Security</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extLst>
                  <a:ext uri="{0D108BD9-81ED-4DB2-BD59-A6C34878D82A}">
                    <a16:rowId xmlns:a16="http://schemas.microsoft.com/office/drawing/2014/main" val="10004"/>
                  </a:ext>
                </a:extLst>
              </a:tr>
            </a:tbl>
          </a:graphicData>
        </a:graphic>
      </p:graphicFrame>
      <p:sp>
        <p:nvSpPr>
          <p:cNvPr id="21" name="Text 18"/>
          <p:cNvSpPr/>
          <p:nvPr/>
        </p:nvSpPr>
        <p:spPr>
          <a:xfrm>
            <a:off x="365760" y="4224528"/>
            <a:ext cx="8412480" cy="365760"/>
          </a:xfrm>
          <a:prstGeom prst="rect">
            <a:avLst/>
          </a:prstGeom>
          <a:noFill/>
          <a:ln/>
        </p:spPr>
        <p:txBody>
          <a:bodyPr wrap="square" lIns="0" tIns="0" rIns="0" bIns="0" rtlCol="0" anchor="ctr"/>
          <a:lstStyle/>
          <a:p>
            <a:pPr marL="0" indent="0">
              <a:buNone/>
            </a:pPr>
            <a:r>
              <a:rPr lang="en-US" sz="1100" dirty="0">
                <a:solidFill>
                  <a:srgbClr val="7A9A87"/>
                </a:solidFill>
                <a:latin typeface="Calibri" pitchFamily="34" charset="0"/>
                <a:ea typeface="Calibri" pitchFamily="34" charset="-122"/>
                <a:cs typeface="Calibri" pitchFamily="34" charset="-120"/>
              </a:rPr>
              <a:t>Règle de traitement : une PR n'est mergée que si la CI est verte. Une montée majeure cassante est fermée et, si elle se répète, neutralisée par une règle ignore dans dependabot.yml.</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1165860"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11658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ENGAGEMENTS</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Types de maintenance, SLA et contractualisation</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Ce qui est dans le forfait, ce qui est facturé</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8412480" cy="1463040"/>
        </p:xfrm>
        <a:graphic>
          <a:graphicData uri="http://schemas.openxmlformats.org/drawingml/2006/table">
            <a:tbl>
              <a:tblPr/>
              <a:tblGrid>
                <a:gridCol w="13716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292608">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Criticité</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Définition</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Prise en charge</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Résolution visée</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extLst>
                  <a:ext uri="{0D108BD9-81ED-4DB2-BD59-A6C34878D82A}">
                    <a16:rowId xmlns:a16="http://schemas.microsoft.com/office/drawing/2014/main" val="10000"/>
                  </a:ext>
                </a:extLst>
              </a:tr>
              <a:tr h="292608">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Bloquante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Service indisponible ou faille exploitable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4 heures ouvrées</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24 heures</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Majeure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Fonctionnalité inutilisable, sans contournement</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1 jour ouvré</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72 heures</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extLst>
                  <a:ext uri="{0D108BD9-81ED-4DB2-BD59-A6C34878D82A}">
                    <a16:rowId xmlns:a16="http://schemas.microsoft.com/office/drawing/2014/main" val="10002"/>
                  </a:ext>
                </a:extLst>
              </a:tr>
              <a:tr h="292608">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Mineure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Anomalie avec contournement possible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3 jours ouvrés</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Prochaine version</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Cosmétique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Défaut d'affichage sans impact fonctionnel</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Selon disponibilité</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extLst>
                  <a:ext uri="{0D108BD9-81ED-4DB2-BD59-A6C34878D82A}">
                    <a16:rowId xmlns:a16="http://schemas.microsoft.com/office/drawing/2014/main" val="10004"/>
                  </a:ext>
                </a:extLst>
              </a:tr>
            </a:tbl>
          </a:graphicData>
        </a:graphic>
      </p:graphicFrame>
      <p:sp>
        <p:nvSpPr>
          <p:cNvPr id="9" name="Shape 6"/>
          <p:cNvSpPr/>
          <p:nvPr/>
        </p:nvSpPr>
        <p:spPr>
          <a:xfrm>
            <a:off x="365760" y="2971800"/>
            <a:ext cx="4114800" cy="1600200"/>
          </a:xfrm>
          <a:prstGeom prst="rect">
            <a:avLst/>
          </a:prstGeom>
          <a:solidFill>
            <a:srgbClr val="F7FAF6"/>
          </a:solidFill>
          <a:ln w="12700">
            <a:solidFill>
              <a:srgbClr val="F7FAF6"/>
            </a:solidFill>
            <a:prstDash val="solid"/>
          </a:ln>
        </p:spPr>
        <p:txBody>
          <a:bodyPr/>
          <a:lstStyle/>
          <a:p>
            <a:endParaRPr lang="fr-FR"/>
          </a:p>
        </p:txBody>
      </p:sp>
      <p:sp>
        <p:nvSpPr>
          <p:cNvPr id="10" name="Shape 7"/>
          <p:cNvSpPr/>
          <p:nvPr/>
        </p:nvSpPr>
        <p:spPr>
          <a:xfrm>
            <a:off x="365760" y="2971800"/>
            <a:ext cx="54864" cy="1600200"/>
          </a:xfrm>
          <a:prstGeom prst="rect">
            <a:avLst/>
          </a:prstGeom>
          <a:solidFill>
            <a:srgbClr val="4B6B59"/>
          </a:solidFill>
          <a:ln w="12700">
            <a:solidFill>
              <a:srgbClr val="4B6B59"/>
            </a:solidFill>
            <a:prstDash val="solid"/>
          </a:ln>
        </p:spPr>
        <p:txBody>
          <a:bodyPr/>
          <a:lstStyle/>
          <a:p>
            <a:endParaRPr lang="fr-FR"/>
          </a:p>
        </p:txBody>
      </p:sp>
      <p:sp>
        <p:nvSpPr>
          <p:cNvPr id="11" name="Text 8"/>
          <p:cNvSpPr/>
          <p:nvPr/>
        </p:nvSpPr>
        <p:spPr>
          <a:xfrm>
            <a:off x="548640" y="3044952"/>
            <a:ext cx="374904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Trois types de maintenance</a:t>
            </a:r>
            <a:endParaRPr lang="en-US" sz="1250" dirty="0"/>
          </a:p>
        </p:txBody>
      </p:sp>
      <p:sp>
        <p:nvSpPr>
          <p:cNvPr id="12" name="Text 9"/>
          <p:cNvSpPr/>
          <p:nvPr/>
        </p:nvSpPr>
        <p:spPr>
          <a:xfrm>
            <a:off x="548640" y="3310128"/>
            <a:ext cx="3749040" cy="11430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Préventive et corrective — forfait 350 € HT / mois</a:t>
            </a:r>
            <a:endParaRPr lang="en-US" sz="1100" dirty="0"/>
          </a:p>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Évolutive — au temps passé : 450 € HT/j (dev), 600 € HT/j (chef de projet)</a:t>
            </a:r>
            <a:endParaRPr lang="en-US" sz="1100" dirty="0"/>
          </a:p>
        </p:txBody>
      </p:sp>
      <p:sp>
        <p:nvSpPr>
          <p:cNvPr id="13" name="Shape 10"/>
          <p:cNvSpPr/>
          <p:nvPr/>
        </p:nvSpPr>
        <p:spPr>
          <a:xfrm>
            <a:off x="4663440" y="2971800"/>
            <a:ext cx="4114800" cy="1600200"/>
          </a:xfrm>
          <a:prstGeom prst="rect">
            <a:avLst/>
          </a:prstGeom>
          <a:solidFill>
            <a:srgbClr val="F7FAF6"/>
          </a:solidFill>
          <a:ln w="12700">
            <a:solidFill>
              <a:srgbClr val="F7FAF6"/>
            </a:solidFill>
            <a:prstDash val="solid"/>
          </a:ln>
        </p:spPr>
        <p:txBody>
          <a:bodyPr/>
          <a:lstStyle/>
          <a:p>
            <a:endParaRPr lang="fr-FR"/>
          </a:p>
        </p:txBody>
      </p:sp>
      <p:sp>
        <p:nvSpPr>
          <p:cNvPr id="14" name="Shape 11"/>
          <p:cNvSpPr/>
          <p:nvPr/>
        </p:nvSpPr>
        <p:spPr>
          <a:xfrm>
            <a:off x="4663440" y="2971800"/>
            <a:ext cx="54864" cy="1600200"/>
          </a:xfrm>
          <a:prstGeom prst="rect">
            <a:avLst/>
          </a:prstGeom>
          <a:solidFill>
            <a:srgbClr val="4B6B59"/>
          </a:solidFill>
          <a:ln w="12700">
            <a:solidFill>
              <a:srgbClr val="4B6B59"/>
            </a:solidFill>
            <a:prstDash val="solid"/>
          </a:ln>
        </p:spPr>
        <p:txBody>
          <a:bodyPr/>
          <a:lstStyle/>
          <a:p>
            <a:endParaRPr lang="fr-FR"/>
          </a:p>
        </p:txBody>
      </p:sp>
      <p:sp>
        <p:nvSpPr>
          <p:cNvPr id="15" name="Text 12"/>
          <p:cNvSpPr/>
          <p:nvPr/>
        </p:nvSpPr>
        <p:spPr>
          <a:xfrm>
            <a:off x="4846320" y="3044952"/>
            <a:ext cx="374904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Circuit d'une évolution</a:t>
            </a:r>
            <a:endParaRPr lang="en-US" sz="1250" dirty="0"/>
          </a:p>
        </p:txBody>
      </p:sp>
      <p:sp>
        <p:nvSpPr>
          <p:cNvPr id="8" name="Text 13"/>
          <p:cNvSpPr/>
          <p:nvPr/>
        </p:nvSpPr>
        <p:spPr>
          <a:xfrm>
            <a:off x="4846320" y="3310128"/>
            <a:ext cx="3749040" cy="1143000"/>
          </a:xfrm>
          <a:prstGeom prst="rect">
            <a:avLst/>
          </a:prstGeom>
          <a:noFill/>
          <a:ln/>
        </p:spPr>
        <p:txBody>
          <a:bodyPr wrap="square" lIns="0" tIns="0" rIns="0" bIns="0" rtlCol="0" anchor="ctr"/>
          <a:lstStyle/>
          <a:p>
            <a:pPr marL="0" indent="0">
              <a:buNone/>
            </a:pPr>
            <a:r>
              <a:rPr lang="en-US" sz="1050" dirty="0">
                <a:solidFill>
                  <a:srgbClr val="1F2A24"/>
                </a:solidFill>
                <a:latin typeface="Calibri" pitchFamily="34" charset="0"/>
                <a:ea typeface="Calibri" pitchFamily="34" charset="-122"/>
                <a:cs typeface="Calibri" pitchFamily="34" charset="-120"/>
              </a:rPr>
              <a:t>Issue « Fonctionnalité » avec critères d'acceptation → chiffrage en jours-homme → validation écrite (bon de commande) → livraison par PR → recette par le client. Contrat 12 mois, préavis 2 mois, comité de pilotage trimestriel.</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914400"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9144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VEILLE</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Veille technologique et garanties d'évolutivité</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Sources ciblées + veille outillée · trois cas concrets traités</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8" name="Shape 6"/>
          <p:cNvSpPr/>
          <p:nvPr/>
        </p:nvSpPr>
        <p:spPr>
          <a:xfrm>
            <a:off x="365760" y="1325880"/>
            <a:ext cx="4114800" cy="1737360"/>
          </a:xfrm>
          <a:prstGeom prst="rect">
            <a:avLst/>
          </a:prstGeom>
          <a:solidFill>
            <a:srgbClr val="F7FAF6"/>
          </a:solidFill>
          <a:ln w="12700">
            <a:solidFill>
              <a:srgbClr val="F7FAF6"/>
            </a:solidFill>
            <a:prstDash val="solid"/>
          </a:ln>
        </p:spPr>
        <p:txBody>
          <a:bodyPr/>
          <a:lstStyle/>
          <a:p>
            <a:endParaRPr lang="fr-FR"/>
          </a:p>
        </p:txBody>
      </p:sp>
      <p:sp>
        <p:nvSpPr>
          <p:cNvPr id="9" name="Shape 7"/>
          <p:cNvSpPr/>
          <p:nvPr/>
        </p:nvSpPr>
        <p:spPr>
          <a:xfrm>
            <a:off x="365760" y="1325880"/>
            <a:ext cx="54864" cy="1737360"/>
          </a:xfrm>
          <a:prstGeom prst="rect">
            <a:avLst/>
          </a:prstGeom>
          <a:solidFill>
            <a:srgbClr val="4B6B59"/>
          </a:solidFill>
          <a:ln w="12700">
            <a:solidFill>
              <a:srgbClr val="4B6B59"/>
            </a:solidFill>
            <a:prstDash val="solid"/>
          </a:ln>
        </p:spPr>
        <p:txBody>
          <a:bodyPr/>
          <a:lstStyle/>
          <a:p>
            <a:endParaRPr lang="fr-FR"/>
          </a:p>
        </p:txBody>
      </p:sp>
      <p:sp>
        <p:nvSpPr>
          <p:cNvPr id="10" name="Text 8"/>
          <p:cNvSpPr/>
          <p:nvPr/>
        </p:nvSpPr>
        <p:spPr>
          <a:xfrm>
            <a:off x="548640" y="1417320"/>
            <a:ext cx="374904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Sources suivies</a:t>
            </a:r>
            <a:endParaRPr lang="en-US" sz="1250" dirty="0"/>
          </a:p>
        </p:txBody>
      </p:sp>
      <p:sp>
        <p:nvSpPr>
          <p:cNvPr id="11" name="Text 9"/>
          <p:cNvSpPr/>
          <p:nvPr/>
        </p:nvSpPr>
        <p:spPr>
          <a:xfrm>
            <a:off x="548640" y="1691640"/>
            <a:ext cx="3749040" cy="12801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Backend : spring.io/blog, GitHub Releases</a:t>
            </a:r>
            <a:endParaRPr lang="en-US" sz="1100" dirty="0"/>
          </a:p>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Front : nextjs.org/blog, changelog Vercel</a:t>
            </a:r>
            <a:endParaRPr lang="en-US" sz="1100" dirty="0"/>
          </a:p>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Mobile : flutter.dev, pub.dev</a:t>
            </a:r>
            <a:endParaRPr lang="en-US" sz="1100" dirty="0"/>
          </a:p>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Sécurité : OWASP, CVE Mitre, GitHub Advisory</a:t>
            </a:r>
            <a:endParaRPr lang="en-US" sz="1100" dirty="0"/>
          </a:p>
        </p:txBody>
      </p:sp>
      <p:sp>
        <p:nvSpPr>
          <p:cNvPr id="12" name="Shape 10"/>
          <p:cNvSpPr/>
          <p:nvPr/>
        </p:nvSpPr>
        <p:spPr>
          <a:xfrm>
            <a:off x="4663440" y="1325880"/>
            <a:ext cx="4114800" cy="1737360"/>
          </a:xfrm>
          <a:prstGeom prst="rect">
            <a:avLst/>
          </a:prstGeom>
          <a:solidFill>
            <a:srgbClr val="F7FAF6"/>
          </a:solidFill>
          <a:ln w="12700">
            <a:solidFill>
              <a:srgbClr val="F7FAF6"/>
            </a:solidFill>
            <a:prstDash val="solid"/>
          </a:ln>
        </p:spPr>
        <p:txBody>
          <a:bodyPr/>
          <a:lstStyle/>
          <a:p>
            <a:endParaRPr lang="fr-FR"/>
          </a:p>
        </p:txBody>
      </p:sp>
      <p:sp>
        <p:nvSpPr>
          <p:cNvPr id="13" name="Shape 11"/>
          <p:cNvSpPr/>
          <p:nvPr/>
        </p:nvSpPr>
        <p:spPr>
          <a:xfrm>
            <a:off x="4663440" y="1325880"/>
            <a:ext cx="54864" cy="1737360"/>
          </a:xfrm>
          <a:prstGeom prst="rect">
            <a:avLst/>
          </a:prstGeom>
          <a:solidFill>
            <a:srgbClr val="4B6B59"/>
          </a:solidFill>
          <a:ln w="12700">
            <a:solidFill>
              <a:srgbClr val="4B6B59"/>
            </a:solidFill>
            <a:prstDash val="solid"/>
          </a:ln>
        </p:spPr>
        <p:txBody>
          <a:bodyPr/>
          <a:lstStyle/>
          <a:p>
            <a:endParaRPr lang="fr-FR"/>
          </a:p>
        </p:txBody>
      </p:sp>
      <p:sp>
        <p:nvSpPr>
          <p:cNvPr id="14" name="Text 12"/>
          <p:cNvSpPr/>
          <p:nvPr/>
        </p:nvSpPr>
        <p:spPr>
          <a:xfrm>
            <a:off x="4846320" y="1417320"/>
            <a:ext cx="374904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Méthode — une veille outillée</a:t>
            </a:r>
            <a:endParaRPr lang="en-US" sz="1250" dirty="0"/>
          </a:p>
        </p:txBody>
      </p:sp>
      <p:sp>
        <p:nvSpPr>
          <p:cNvPr id="15" name="Text 13"/>
          <p:cNvSpPr/>
          <p:nvPr/>
        </p:nvSpPr>
        <p:spPr>
          <a:xfrm>
            <a:off x="4846320" y="1691640"/>
            <a:ext cx="3749040" cy="1280160"/>
          </a:xfrm>
          <a:prstGeom prst="rect">
            <a:avLst/>
          </a:prstGeom>
          <a:noFill/>
          <a:ln/>
        </p:spPr>
        <p:txBody>
          <a:bodyPr wrap="square" lIns="0" tIns="0" rIns="0" bIns="0" rtlCol="0" anchor="ctr"/>
          <a:lstStyle/>
          <a:p>
            <a:pPr marL="0" indent="0">
              <a:buNone/>
            </a:pPr>
            <a:r>
              <a:rPr lang="en-US" sz="1100" dirty="0">
                <a:solidFill>
                  <a:srgbClr val="1F2A24"/>
                </a:solidFill>
                <a:latin typeface="Calibri" pitchFamily="34" charset="0"/>
                <a:ea typeface="Calibri" pitchFamily="34" charset="-122"/>
                <a:cs typeface="Calibri" pitchFamily="34" charset="-120"/>
              </a:rPr>
              <a:t>S'abonner (Watch) aux dépôts des dépendances critiques, et laisser Dependabot matérialiser automatiquement chaque nouvelle version sous forme de pull request testée. La veille ne dépend pas de ma disponibilité.</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3200400"/>
          <a:ext cx="8412480" cy="1207008"/>
        </p:xfrm>
        <a:graphic>
          <a:graphicData uri="http://schemas.openxmlformats.org/drawingml/2006/table">
            <a:tbl>
              <a:tblPr/>
              <a:tblGrid>
                <a:gridCol w="31089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01752">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Fiche de veille</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Enjeu</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Décision prise</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extLst>
                  <a:ext uri="{0D108BD9-81ED-4DB2-BD59-A6C34878D82A}">
                    <a16:rowId xmlns:a16="http://schemas.microsoft.com/office/drawing/2014/main" val="10000"/>
                  </a:ext>
                </a:extLst>
              </a:tr>
              <a:tr h="301752">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Jackson — CVE-2026-54512 / 54513</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Désérialisation, déni de service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Montée de version groupée (BOM)</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Spring Boot 4</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Rupture majeure, Java 21</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Adoption dès le socle du projet</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extLst>
                  <a:ext uri="{0D108BD9-81ED-4DB2-BD59-A6C34878D82A}">
                    <a16:rowId xmlns:a16="http://schemas.microsoft.com/office/drawing/2014/main" val="10002"/>
                  </a:ext>
                </a:extLst>
              </a:tr>
              <a:tr h="301752">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Next.js — GHSA-36qx-fr4f-26g5</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8 CVE HIGH sur la 16.2.2</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Passage en 16.2.10 immédiat</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4B6B59"/>
        </a:solidFill>
        <a:effectLst/>
      </p:bgPr>
    </p:bg>
    <p:spTree>
      <p:nvGrpSpPr>
        <p:cNvPr id="1" name=""/>
        <p:cNvGrpSpPr/>
        <p:nvPr/>
      </p:nvGrpSpPr>
      <p:grpSpPr>
        <a:xfrm>
          <a:off x="0" y="0"/>
          <a:ext cx="0" cy="0"/>
          <a:chOff x="0" y="0"/>
          <a:chExt cx="0" cy="0"/>
        </a:xfrm>
      </p:grpSpPr>
      <p:sp>
        <p:nvSpPr>
          <p:cNvPr id="2" name="Text 0"/>
          <p:cNvSpPr/>
          <p:nvPr/>
        </p:nvSpPr>
        <p:spPr>
          <a:xfrm>
            <a:off x="274320" y="137160"/>
            <a:ext cx="3657600" cy="3200400"/>
          </a:xfrm>
          <a:prstGeom prst="rect">
            <a:avLst/>
          </a:prstGeom>
          <a:noFill/>
          <a:ln/>
        </p:spPr>
        <p:txBody>
          <a:bodyPr wrap="square" lIns="0" tIns="0" rIns="0" bIns="0" rtlCol="0" anchor="t"/>
          <a:lstStyle/>
          <a:p>
            <a:pPr marL="0" indent="0">
              <a:buNone/>
            </a:pPr>
            <a:r>
              <a:rPr lang="en-US" sz="13000" b="1" dirty="0">
                <a:solidFill>
                  <a:srgbClr val="6BA382"/>
                </a:solidFill>
                <a:latin typeface="Calibri" pitchFamily="34" charset="0"/>
                <a:ea typeface="Calibri" pitchFamily="34" charset="-122"/>
                <a:cs typeface="Calibri" pitchFamily="34" charset="-120"/>
              </a:rPr>
              <a:t>03</a:t>
            </a:r>
            <a:endParaRPr lang="en-US" sz="13000" dirty="0"/>
          </a:p>
        </p:txBody>
      </p:sp>
      <p:sp>
        <p:nvSpPr>
          <p:cNvPr id="3" name="Text 1"/>
          <p:cNvSpPr/>
          <p:nvPr/>
        </p:nvSpPr>
        <p:spPr>
          <a:xfrm>
            <a:off x="548640" y="1965960"/>
            <a:ext cx="8046720" cy="9144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Sécurisation</a:t>
            </a:r>
            <a:endParaRPr lang="en-US" sz="3600" dirty="0"/>
          </a:p>
        </p:txBody>
      </p:sp>
      <p:sp>
        <p:nvSpPr>
          <p:cNvPr id="4" name="Text 2"/>
          <p:cNvSpPr/>
          <p:nvPr/>
        </p:nvSpPr>
        <p:spPr>
          <a:xfrm>
            <a:off x="548640" y="2926080"/>
            <a:ext cx="8046720" cy="457200"/>
          </a:xfrm>
          <a:prstGeom prst="rect">
            <a:avLst/>
          </a:prstGeom>
          <a:noFill/>
          <a:ln/>
        </p:spPr>
        <p:txBody>
          <a:bodyPr wrap="square" lIns="0" tIns="0" rIns="0" bIns="0" rtlCol="0" anchor="ctr"/>
          <a:lstStyle/>
          <a:p>
            <a:pPr marL="0" indent="0">
              <a:buNone/>
            </a:pPr>
            <a:r>
              <a:rPr lang="en-US" sz="1700" dirty="0">
                <a:solidFill>
                  <a:srgbClr val="A8DADC"/>
                </a:solidFill>
                <a:latin typeface="Calibri" pitchFamily="34" charset="0"/>
                <a:ea typeface="Calibri" pitchFamily="34" charset="-122"/>
                <a:cs typeface="Calibri" pitchFamily="34" charset="-120"/>
              </a:rPr>
              <a:t>Analyse de risques · chiffrement · données personnelles · gestion de crise</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914400"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9144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ANALYSE</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Analyse des risques : méthode de cotation</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Criticité = Probabilité × Impact</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8" name="Shape 6"/>
          <p:cNvSpPr/>
          <p:nvPr/>
        </p:nvSpPr>
        <p:spPr>
          <a:xfrm>
            <a:off x="365760" y="1325880"/>
            <a:ext cx="3200400" cy="3200400"/>
          </a:xfrm>
          <a:prstGeom prst="rect">
            <a:avLst/>
          </a:prstGeom>
          <a:solidFill>
            <a:srgbClr val="F7FAF6"/>
          </a:solidFill>
          <a:ln w="12700">
            <a:solidFill>
              <a:srgbClr val="F7FAF6"/>
            </a:solidFill>
            <a:prstDash val="solid"/>
          </a:ln>
        </p:spPr>
        <p:txBody>
          <a:bodyPr/>
          <a:lstStyle/>
          <a:p>
            <a:endParaRPr lang="fr-FR"/>
          </a:p>
        </p:txBody>
      </p:sp>
      <p:sp>
        <p:nvSpPr>
          <p:cNvPr id="9" name="Shape 7"/>
          <p:cNvSpPr/>
          <p:nvPr/>
        </p:nvSpPr>
        <p:spPr>
          <a:xfrm>
            <a:off x="365760" y="1325880"/>
            <a:ext cx="54864" cy="3200400"/>
          </a:xfrm>
          <a:prstGeom prst="rect">
            <a:avLst/>
          </a:prstGeom>
          <a:solidFill>
            <a:srgbClr val="4B6B59"/>
          </a:solidFill>
          <a:ln w="12700">
            <a:solidFill>
              <a:srgbClr val="4B6B59"/>
            </a:solidFill>
            <a:prstDash val="solid"/>
          </a:ln>
        </p:spPr>
        <p:txBody>
          <a:bodyPr/>
          <a:lstStyle/>
          <a:p>
            <a:endParaRPr lang="fr-FR"/>
          </a:p>
        </p:txBody>
      </p:sp>
      <p:sp>
        <p:nvSpPr>
          <p:cNvPr id="10" name="Text 8"/>
          <p:cNvSpPr/>
          <p:nvPr/>
        </p:nvSpPr>
        <p:spPr>
          <a:xfrm>
            <a:off x="548640" y="1417320"/>
            <a:ext cx="283464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Méthode</a:t>
            </a:r>
            <a:endParaRPr lang="en-US" sz="1250" dirty="0"/>
          </a:p>
        </p:txBody>
      </p:sp>
      <p:sp>
        <p:nvSpPr>
          <p:cNvPr id="11" name="Text 9"/>
          <p:cNvSpPr/>
          <p:nvPr/>
        </p:nvSpPr>
        <p:spPr>
          <a:xfrm>
            <a:off x="548640" y="1691640"/>
            <a:ext cx="2834640" cy="18288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Probabilité : Faible 1 · Moyenne 2 · Élevée 3</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Impact : Faible 1 · Moyen 2 · Élevé 3 · Critique 4</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Criticité = produit des deux</a:t>
            </a:r>
            <a:endParaRPr lang="en-US" sz="1150" dirty="0"/>
          </a:p>
          <a:p>
            <a:pPr marL="342900" indent="-342900">
              <a:spcAft>
                <a:spcPts val="600"/>
              </a:spcAft>
              <a:buSzPct val="100000"/>
              <a:buChar char="•"/>
            </a:pPr>
            <a:r>
              <a:rPr lang="en-US" sz="1150" dirty="0">
                <a:solidFill>
                  <a:srgbClr val="1F2A24"/>
                </a:solidFill>
                <a:latin typeface="Calibri" pitchFamily="34" charset="0"/>
                <a:ea typeface="Calibri" pitchFamily="34" charset="-122"/>
                <a:cs typeface="Calibri" pitchFamily="34" charset="-120"/>
              </a:rPr>
              <a:t>La criticité fixe l'ordre de priorité des actions correctives.</a:t>
            </a:r>
            <a:endParaRPr lang="en-US" sz="1150" dirty="0"/>
          </a:p>
        </p:txBody>
      </p:sp>
      <p:sp>
        <p:nvSpPr>
          <p:cNvPr id="12" name="Shape 10"/>
          <p:cNvSpPr/>
          <p:nvPr/>
        </p:nvSpPr>
        <p:spPr>
          <a:xfrm>
            <a:off x="548640" y="3977640"/>
            <a:ext cx="2834640" cy="457200"/>
          </a:xfrm>
          <a:prstGeom prst="roundRect">
            <a:avLst>
              <a:gd name="adj" fmla="val 10000"/>
            </a:avLst>
          </a:prstGeom>
          <a:solidFill>
            <a:srgbClr val="E8F0EB"/>
          </a:solidFill>
          <a:ln w="12700">
            <a:solidFill>
              <a:srgbClr val="E8F0EB"/>
            </a:solidFill>
            <a:prstDash val="solid"/>
          </a:ln>
        </p:spPr>
        <p:txBody>
          <a:bodyPr/>
          <a:lstStyle/>
          <a:p>
            <a:endParaRPr lang="fr-FR"/>
          </a:p>
        </p:txBody>
      </p:sp>
      <p:sp>
        <p:nvSpPr>
          <p:cNvPr id="13" name="Text 11"/>
          <p:cNvSpPr/>
          <p:nvPr/>
        </p:nvSpPr>
        <p:spPr>
          <a:xfrm>
            <a:off x="548640" y="3977640"/>
            <a:ext cx="2834640" cy="457200"/>
          </a:xfrm>
          <a:prstGeom prst="rect">
            <a:avLst/>
          </a:prstGeom>
          <a:noFill/>
          <a:ln/>
        </p:spPr>
        <p:txBody>
          <a:bodyPr wrap="square" lIns="0" tIns="0" rIns="0" bIns="0" rtlCol="0" anchor="ctr"/>
          <a:lstStyle/>
          <a:p>
            <a:pPr marL="0" indent="0" algn="ctr">
              <a:buNone/>
            </a:pPr>
            <a:r>
              <a:rPr lang="en-US" sz="900" dirty="0">
                <a:solidFill>
                  <a:srgbClr val="4B6B59"/>
                </a:solidFill>
                <a:latin typeface="Calibri" pitchFamily="34" charset="0"/>
                <a:ea typeface="Calibri" pitchFamily="34" charset="-122"/>
                <a:cs typeface="Calibri" pitchFamily="34" charset="-120"/>
              </a:rPr>
              <a:t>Seuils : 1-2 Faible · 3-4 Moyenne</a:t>
            </a:r>
            <a:endParaRPr lang="en-US" sz="900" dirty="0"/>
          </a:p>
          <a:p>
            <a:pPr marL="0" indent="0" algn="ctr">
              <a:buNone/>
            </a:pPr>
            <a:r>
              <a:rPr lang="en-US" sz="900" dirty="0">
                <a:solidFill>
                  <a:srgbClr val="4B6B59"/>
                </a:solidFill>
                <a:latin typeface="Calibri" pitchFamily="34" charset="0"/>
                <a:ea typeface="Calibri" pitchFamily="34" charset="-122"/>
                <a:cs typeface="Calibri" pitchFamily="34" charset="-120"/>
              </a:rPr>
              <a:t>5-8 Élevée · 9-12 Critique</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749040" y="1600200"/>
          <a:ext cx="5029200" cy="1828800"/>
        </p:xfrm>
        <a:graphic>
          <a:graphicData uri="http://schemas.openxmlformats.org/drawingml/2006/table">
            <a:tbl>
              <a:tblPr/>
              <a:tblGrid>
                <a:gridCol w="118872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45720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Prob. \ Impact</a:t>
                      </a:r>
                      <a:endParaRPr lang="en-US" sz="10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Faible (1)</a:t>
                      </a:r>
                      <a:endParaRPr lang="en-US" sz="10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Moyen (2)</a:t>
                      </a:r>
                      <a:endParaRPr lang="en-US" sz="10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Élevé (3)</a:t>
                      </a:r>
                      <a:endParaRPr lang="en-US" sz="10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Critique (4)</a:t>
                      </a:r>
                      <a:endParaRPr lang="en-US" sz="10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extLst>
                  <a:ext uri="{0D108BD9-81ED-4DB2-BD59-A6C34878D82A}">
                    <a16:rowId xmlns:a16="http://schemas.microsoft.com/office/drawing/2014/main" val="10000"/>
                  </a:ext>
                </a:extLst>
              </a:tr>
              <a:tr h="457200">
                <a:tc>
                  <a:txBody>
                    <a:bodyPr/>
                    <a:lstStyle/>
                    <a:p>
                      <a:pPr marL="0" indent="0" algn="ctr">
                        <a:buNone/>
                      </a:pPr>
                      <a:r>
                        <a:rPr lang="en-US" sz="1050" b="1" dirty="0">
                          <a:solidFill>
                            <a:srgbClr val="1F2A24"/>
                          </a:solidFill>
                          <a:latin typeface="Calibri" pitchFamily="34" charset="0"/>
                          <a:ea typeface="Calibri" pitchFamily="34" charset="-122"/>
                          <a:cs typeface="Calibri" pitchFamily="34" charset="-120"/>
                        </a:rPr>
                        <a:t>Élevée (3)</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ctr">
                        <a:buNone/>
                      </a:pPr>
                      <a:r>
                        <a:rPr lang="en-US" sz="1050" dirty="0">
                          <a:solidFill>
                            <a:srgbClr val="1F2A24"/>
                          </a:solidFill>
                          <a:latin typeface="Calibri" pitchFamily="34" charset="0"/>
                          <a:ea typeface="Calibri" pitchFamily="34" charset="-122"/>
                          <a:cs typeface="Calibri" pitchFamily="34" charset="-120"/>
                        </a:rPr>
                        <a:t>Moyenne 3</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BF6DC"/>
                    </a:solidFill>
                  </a:tcPr>
                </a:tc>
                <a:tc>
                  <a:txBody>
                    <a:bodyPr/>
                    <a:lstStyle/>
                    <a:p>
                      <a:pPr marL="0" indent="0" algn="ctr">
                        <a:buNone/>
                      </a:pPr>
                      <a:r>
                        <a:rPr lang="en-US" sz="1050" dirty="0">
                          <a:solidFill>
                            <a:srgbClr val="1F2A24"/>
                          </a:solidFill>
                          <a:latin typeface="Calibri" pitchFamily="34" charset="0"/>
                          <a:ea typeface="Calibri" pitchFamily="34" charset="-122"/>
                          <a:cs typeface="Calibri" pitchFamily="34" charset="-120"/>
                        </a:rPr>
                        <a:t>Élevée 6</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BEEDD"/>
                    </a:solidFill>
                  </a:tcPr>
                </a:tc>
                <a:tc>
                  <a:txBody>
                    <a:bodyPr/>
                    <a:lstStyle/>
                    <a:p>
                      <a:pPr marL="0" indent="0" algn="ctr">
                        <a:buNone/>
                      </a:pPr>
                      <a:r>
                        <a:rPr lang="en-US" sz="1050" b="1" dirty="0">
                          <a:solidFill>
                            <a:srgbClr val="1F2A24"/>
                          </a:solidFill>
                          <a:latin typeface="Calibri" pitchFamily="34" charset="0"/>
                          <a:ea typeface="Calibri" pitchFamily="34" charset="-122"/>
                          <a:cs typeface="Calibri" pitchFamily="34" charset="-120"/>
                        </a:rPr>
                        <a:t>Critique 9</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3D9D6"/>
                    </a:solidFill>
                  </a:tcPr>
                </a:tc>
                <a:tc>
                  <a:txBody>
                    <a:bodyPr/>
                    <a:lstStyle/>
                    <a:p>
                      <a:pPr marL="0" indent="0" algn="ctr">
                        <a:buNone/>
                      </a:pPr>
                      <a:r>
                        <a:rPr lang="en-US" sz="1050" b="1" dirty="0">
                          <a:solidFill>
                            <a:srgbClr val="1F2A24"/>
                          </a:solidFill>
                          <a:latin typeface="Calibri" pitchFamily="34" charset="0"/>
                          <a:ea typeface="Calibri" pitchFamily="34" charset="-122"/>
                          <a:cs typeface="Calibri" pitchFamily="34" charset="-120"/>
                        </a:rPr>
                        <a:t>Critique 12</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3D9D6"/>
                    </a:solidFill>
                  </a:tcPr>
                </a:tc>
                <a:extLst>
                  <a:ext uri="{0D108BD9-81ED-4DB2-BD59-A6C34878D82A}">
                    <a16:rowId xmlns:a16="http://schemas.microsoft.com/office/drawing/2014/main" val="10001"/>
                  </a:ext>
                </a:extLst>
              </a:tr>
              <a:tr h="457200">
                <a:tc>
                  <a:txBody>
                    <a:bodyPr/>
                    <a:lstStyle/>
                    <a:p>
                      <a:pPr marL="0" indent="0" algn="ctr">
                        <a:buNone/>
                      </a:pPr>
                      <a:r>
                        <a:rPr lang="en-US" sz="1050" b="1" dirty="0">
                          <a:solidFill>
                            <a:srgbClr val="1F2A24"/>
                          </a:solidFill>
                          <a:latin typeface="Calibri" pitchFamily="34" charset="0"/>
                          <a:ea typeface="Calibri" pitchFamily="34" charset="-122"/>
                          <a:cs typeface="Calibri" pitchFamily="34" charset="-120"/>
                        </a:rPr>
                        <a:t>Moyenne (2)</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ctr">
                        <a:buNone/>
                      </a:pPr>
                      <a:r>
                        <a:rPr lang="en-US" sz="1050" dirty="0">
                          <a:solidFill>
                            <a:srgbClr val="1F2A24"/>
                          </a:solidFill>
                          <a:latin typeface="Calibri" pitchFamily="34" charset="0"/>
                          <a:ea typeface="Calibri" pitchFamily="34" charset="-122"/>
                          <a:cs typeface="Calibri" pitchFamily="34" charset="-120"/>
                        </a:rPr>
                        <a:t>Faible 2</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E8F0EB"/>
                    </a:solidFill>
                  </a:tcPr>
                </a:tc>
                <a:tc>
                  <a:txBody>
                    <a:bodyPr/>
                    <a:lstStyle/>
                    <a:p>
                      <a:pPr marL="0" indent="0" algn="ctr">
                        <a:buNone/>
                      </a:pPr>
                      <a:r>
                        <a:rPr lang="en-US" sz="1050" dirty="0">
                          <a:solidFill>
                            <a:srgbClr val="1F2A24"/>
                          </a:solidFill>
                          <a:latin typeface="Calibri" pitchFamily="34" charset="0"/>
                          <a:ea typeface="Calibri" pitchFamily="34" charset="-122"/>
                          <a:cs typeface="Calibri" pitchFamily="34" charset="-120"/>
                        </a:rPr>
                        <a:t>Moyenne 4</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BF6DC"/>
                    </a:solidFill>
                  </a:tcPr>
                </a:tc>
                <a:tc>
                  <a:txBody>
                    <a:bodyPr/>
                    <a:lstStyle/>
                    <a:p>
                      <a:pPr marL="0" indent="0" algn="ctr">
                        <a:buNone/>
                      </a:pPr>
                      <a:r>
                        <a:rPr lang="en-US" sz="1050" dirty="0">
                          <a:solidFill>
                            <a:srgbClr val="1F2A24"/>
                          </a:solidFill>
                          <a:latin typeface="Calibri" pitchFamily="34" charset="0"/>
                          <a:ea typeface="Calibri" pitchFamily="34" charset="-122"/>
                          <a:cs typeface="Calibri" pitchFamily="34" charset="-120"/>
                        </a:rPr>
                        <a:t>Élevée 6</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BEEDD"/>
                    </a:solidFill>
                  </a:tcPr>
                </a:tc>
                <a:tc>
                  <a:txBody>
                    <a:bodyPr/>
                    <a:lstStyle/>
                    <a:p>
                      <a:pPr marL="0" indent="0" algn="ctr">
                        <a:buNone/>
                      </a:pPr>
                      <a:r>
                        <a:rPr lang="en-US" sz="1050" b="1" dirty="0">
                          <a:solidFill>
                            <a:srgbClr val="1F2A24"/>
                          </a:solidFill>
                          <a:latin typeface="Calibri" pitchFamily="34" charset="0"/>
                          <a:ea typeface="Calibri" pitchFamily="34" charset="-122"/>
                          <a:cs typeface="Calibri" pitchFamily="34" charset="-120"/>
                        </a:rPr>
                        <a:t>Élevée 8</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BEEDD"/>
                    </a:solidFill>
                  </a:tcPr>
                </a:tc>
                <a:extLst>
                  <a:ext uri="{0D108BD9-81ED-4DB2-BD59-A6C34878D82A}">
                    <a16:rowId xmlns:a16="http://schemas.microsoft.com/office/drawing/2014/main" val="10002"/>
                  </a:ext>
                </a:extLst>
              </a:tr>
              <a:tr h="457200">
                <a:tc>
                  <a:txBody>
                    <a:bodyPr/>
                    <a:lstStyle/>
                    <a:p>
                      <a:pPr marL="0" indent="0" algn="ctr">
                        <a:buNone/>
                      </a:pPr>
                      <a:r>
                        <a:rPr lang="en-US" sz="1050" b="1" dirty="0">
                          <a:solidFill>
                            <a:srgbClr val="1F2A24"/>
                          </a:solidFill>
                          <a:latin typeface="Calibri" pitchFamily="34" charset="0"/>
                          <a:ea typeface="Calibri" pitchFamily="34" charset="-122"/>
                          <a:cs typeface="Calibri" pitchFamily="34" charset="-120"/>
                        </a:rPr>
                        <a:t>Faible (1)</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ctr">
                        <a:buNone/>
                      </a:pPr>
                      <a:r>
                        <a:rPr lang="en-US" sz="1050" dirty="0">
                          <a:solidFill>
                            <a:srgbClr val="1F2A24"/>
                          </a:solidFill>
                          <a:latin typeface="Calibri" pitchFamily="34" charset="0"/>
                          <a:ea typeface="Calibri" pitchFamily="34" charset="-122"/>
                          <a:cs typeface="Calibri" pitchFamily="34" charset="-120"/>
                        </a:rPr>
                        <a:t>Faible 1</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E8F0EB"/>
                    </a:solidFill>
                  </a:tcPr>
                </a:tc>
                <a:tc>
                  <a:txBody>
                    <a:bodyPr/>
                    <a:lstStyle/>
                    <a:p>
                      <a:pPr marL="0" indent="0" algn="ctr">
                        <a:buNone/>
                      </a:pPr>
                      <a:r>
                        <a:rPr lang="en-US" sz="1050" dirty="0">
                          <a:solidFill>
                            <a:srgbClr val="1F2A24"/>
                          </a:solidFill>
                          <a:latin typeface="Calibri" pitchFamily="34" charset="0"/>
                          <a:ea typeface="Calibri" pitchFamily="34" charset="-122"/>
                          <a:cs typeface="Calibri" pitchFamily="34" charset="-120"/>
                        </a:rPr>
                        <a:t>Faible 2</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E8F0EB"/>
                    </a:solidFill>
                  </a:tcPr>
                </a:tc>
                <a:tc>
                  <a:txBody>
                    <a:bodyPr/>
                    <a:lstStyle/>
                    <a:p>
                      <a:pPr marL="0" indent="0" algn="ctr">
                        <a:buNone/>
                      </a:pPr>
                      <a:r>
                        <a:rPr lang="en-US" sz="1050" dirty="0">
                          <a:solidFill>
                            <a:srgbClr val="1F2A24"/>
                          </a:solidFill>
                          <a:latin typeface="Calibri" pitchFamily="34" charset="0"/>
                          <a:ea typeface="Calibri" pitchFamily="34" charset="-122"/>
                          <a:cs typeface="Calibri" pitchFamily="34" charset="-120"/>
                        </a:rPr>
                        <a:t>Moyenne 3</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BF6DC"/>
                    </a:solidFill>
                  </a:tcPr>
                </a:tc>
                <a:tc>
                  <a:txBody>
                    <a:bodyPr/>
                    <a:lstStyle/>
                    <a:p>
                      <a:pPr marL="0" indent="0" algn="ctr">
                        <a:buNone/>
                      </a:pPr>
                      <a:r>
                        <a:rPr lang="en-US" sz="1050" dirty="0">
                          <a:solidFill>
                            <a:srgbClr val="1F2A24"/>
                          </a:solidFill>
                          <a:latin typeface="Calibri" pitchFamily="34" charset="0"/>
                          <a:ea typeface="Calibri" pitchFamily="34" charset="-122"/>
                          <a:cs typeface="Calibri" pitchFamily="34" charset="-120"/>
                        </a:rPr>
                        <a:t>Moyenne 4</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BF6DC"/>
                    </a:solidFill>
                  </a:tcPr>
                </a:tc>
                <a:extLst>
                  <a:ext uri="{0D108BD9-81ED-4DB2-BD59-A6C34878D82A}">
                    <a16:rowId xmlns:a16="http://schemas.microsoft.com/office/drawing/2014/main" val="10003"/>
                  </a:ext>
                </a:extLst>
              </a:tr>
            </a:tbl>
          </a:graphicData>
        </a:graphic>
      </p:graphicFrame>
      <p:sp>
        <p:nvSpPr>
          <p:cNvPr id="15" name="Text 12"/>
          <p:cNvSpPr/>
          <p:nvPr/>
        </p:nvSpPr>
        <p:spPr>
          <a:xfrm>
            <a:off x="3749040" y="4023360"/>
            <a:ext cx="5029200" cy="320040"/>
          </a:xfrm>
          <a:prstGeom prst="rect">
            <a:avLst/>
          </a:prstGeom>
          <a:noFill/>
          <a:ln/>
        </p:spPr>
        <p:txBody>
          <a:bodyPr wrap="square" lIns="0" tIns="0" rIns="0" bIns="0" rtlCol="0" anchor="ctr"/>
          <a:lstStyle/>
          <a:p>
            <a:pPr marL="0" indent="0">
              <a:buNone/>
            </a:pPr>
            <a:r>
              <a:rPr lang="en-US" sz="1000" dirty="0">
                <a:solidFill>
                  <a:srgbClr val="7A9A87"/>
                </a:solidFill>
                <a:latin typeface="Calibri" pitchFamily="34" charset="0"/>
                <a:ea typeface="Calibri" pitchFamily="34" charset="-122"/>
                <a:cs typeface="Calibri" pitchFamily="34" charset="-120"/>
              </a:rPr>
              <a:t>Les en-têtes de ligne sont en blanc sur vert ; la couleur des cellules traduit le niveau de criticité obtenu.</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914400"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9144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MENACES</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Menaces principales, criticité et mesures en place</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10 menaces analysées — les 6 plus critiques présentées ici</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8412480" cy="2176272"/>
        </p:xfrm>
        <a:graphic>
          <a:graphicData uri="http://schemas.openxmlformats.org/drawingml/2006/table">
            <a:tbl>
              <a:tblPr/>
              <a:tblGrid>
                <a:gridCol w="1965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3657600">
                  <a:extLst>
                    <a:ext uri="{9D8B030D-6E8A-4147-A177-3AD203B41FA5}">
                      <a16:colId xmlns:a16="http://schemas.microsoft.com/office/drawing/2014/main" val="20004"/>
                    </a:ext>
                  </a:extLst>
                </a:gridCol>
              </a:tblGrid>
              <a:tr h="310896">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Menace</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Prob.</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Impact</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Criticité</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Mesure en place</a:t>
                      </a:r>
                      <a:endParaRPr lang="en-US" sz="105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4B6B59"/>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Dépendance vulnérable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Élevée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Élevé</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Critique (9)</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Trivy bloquant · Dependabot · OWASP DC</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Fuite de secret</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Moyenne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Critique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Élevée (8)</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Gitleaks + hook pre-commit · secrets en variables</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Brute-force sur le login</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Moyenne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Élevé</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Élevée (6)</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Rate limiting 5/min/IP → 429 · journalisation</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IDOR</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Moyenne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Élevé</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Élevée (6)</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@PreAuthorize · vérification de propriété</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Exposition service d'admin</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Moyenne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Élevé</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Élevée (6)</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phpMyAdmin et Grafana non déployés en prod</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Injection SQL</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Faible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Critique</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Moyenne (4)</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JPA paramétré · compte BDD sans droits DDL</a:t>
                      </a:r>
                      <a:endParaRPr lang="en-US" sz="1100" dirty="0">
                        <a:latin typeface="Calibri" charset="0"/>
                        <a:ea typeface="Calibri" charset="0"/>
                        <a:cs typeface="Calibri" charset="0"/>
                      </a:endParaRPr>
                    </a:p>
                  </a:txBody>
                  <a:tcPr anchor="ctr">
                    <a:lnL w="12700" cap="flat" cmpd="sng" algn="ctr">
                      <a:solidFill>
                        <a:srgbClr val="D6E2DA"/>
                      </a:solidFill>
                      <a:prstDash val="solid"/>
                      <a:round/>
                      <a:headEnd type="none" w="med" len="med"/>
                      <a:tailEnd type="none" w="med" len="med"/>
                    </a:lnL>
                    <a:lnR w="12700" cap="flat" cmpd="sng" algn="ctr">
                      <a:solidFill>
                        <a:srgbClr val="D6E2DA"/>
                      </a:solidFill>
                      <a:prstDash val="solid"/>
                      <a:round/>
                      <a:headEnd type="none" w="med" len="med"/>
                      <a:tailEnd type="none" w="med" len="med"/>
                    </a:lnR>
                    <a:lnT w="12700" cap="flat" cmpd="sng" algn="ctr">
                      <a:solidFill>
                        <a:srgbClr val="D6E2DA"/>
                      </a:solidFill>
                      <a:prstDash val="solid"/>
                      <a:round/>
                      <a:headEnd type="none" w="med" len="med"/>
                      <a:tailEnd type="none" w="med" len="med"/>
                    </a:lnT>
                    <a:lnB w="12700" cap="flat" cmpd="sng" algn="ctr">
                      <a:solidFill>
                        <a:srgbClr val="D6E2DA"/>
                      </a:solidFill>
                      <a:prstDash val="solid"/>
                      <a:round/>
                      <a:headEnd type="none" w="med" len="med"/>
                      <a:tailEnd type="none" w="med" len="med"/>
                    </a:lnB>
                    <a:solidFill>
                      <a:srgbClr val="F7FAF6"/>
                    </a:solidFill>
                  </a:tcPr>
                </a:tc>
                <a:extLst>
                  <a:ext uri="{0D108BD9-81ED-4DB2-BD59-A6C34878D82A}">
                    <a16:rowId xmlns:a16="http://schemas.microsoft.com/office/drawing/2014/main" val="10006"/>
                  </a:ext>
                </a:extLst>
              </a:tr>
            </a:tbl>
          </a:graphicData>
        </a:graphic>
      </p:graphicFrame>
      <p:sp>
        <p:nvSpPr>
          <p:cNvPr id="9" name="Shape 6"/>
          <p:cNvSpPr/>
          <p:nvPr/>
        </p:nvSpPr>
        <p:spPr>
          <a:xfrm>
            <a:off x="365760" y="3611880"/>
            <a:ext cx="8412480" cy="960120"/>
          </a:xfrm>
          <a:prstGeom prst="rect">
            <a:avLst/>
          </a:prstGeom>
          <a:solidFill>
            <a:srgbClr val="F7FAF6"/>
          </a:solidFill>
          <a:ln w="12700">
            <a:solidFill>
              <a:srgbClr val="F7FAF6"/>
            </a:solidFill>
            <a:prstDash val="solid"/>
          </a:ln>
        </p:spPr>
        <p:txBody>
          <a:bodyPr/>
          <a:lstStyle/>
          <a:p>
            <a:endParaRPr lang="fr-FR"/>
          </a:p>
        </p:txBody>
      </p:sp>
      <p:sp>
        <p:nvSpPr>
          <p:cNvPr id="10" name="Shape 7"/>
          <p:cNvSpPr/>
          <p:nvPr/>
        </p:nvSpPr>
        <p:spPr>
          <a:xfrm>
            <a:off x="365760" y="3611880"/>
            <a:ext cx="54864" cy="960120"/>
          </a:xfrm>
          <a:prstGeom prst="rect">
            <a:avLst/>
          </a:prstGeom>
          <a:solidFill>
            <a:srgbClr val="4B6B59"/>
          </a:solidFill>
          <a:ln w="12700">
            <a:solidFill>
              <a:srgbClr val="4B6B59"/>
            </a:solidFill>
            <a:prstDash val="solid"/>
          </a:ln>
        </p:spPr>
        <p:txBody>
          <a:bodyPr/>
          <a:lstStyle/>
          <a:p>
            <a:endParaRPr lang="fr-FR"/>
          </a:p>
        </p:txBody>
      </p:sp>
      <p:sp>
        <p:nvSpPr>
          <p:cNvPr id="11" name="Text 8"/>
          <p:cNvSpPr/>
          <p:nvPr/>
        </p:nvSpPr>
        <p:spPr>
          <a:xfrm>
            <a:off x="566928" y="3685032"/>
            <a:ext cx="411480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Ce que la priorisation a changé</a:t>
            </a:r>
            <a:endParaRPr lang="en-US" sz="1250" dirty="0"/>
          </a:p>
        </p:txBody>
      </p:sp>
      <p:sp>
        <p:nvSpPr>
          <p:cNvPr id="12" name="Text 9"/>
          <p:cNvSpPr/>
          <p:nvPr/>
        </p:nvSpPr>
        <p:spPr>
          <a:xfrm>
            <a:off x="566928" y="3950208"/>
            <a:ext cx="8046720" cy="548640"/>
          </a:xfrm>
          <a:prstGeom prst="rect">
            <a:avLst/>
          </a:prstGeom>
          <a:noFill/>
          <a:ln/>
        </p:spPr>
        <p:txBody>
          <a:bodyPr wrap="square" lIns="0" tIns="0" rIns="0" bIns="0" rtlCol="0" anchor="ctr"/>
          <a:lstStyle/>
          <a:p>
            <a:pPr marL="0" indent="0">
              <a:buNone/>
            </a:pPr>
            <a:r>
              <a:rPr lang="en-US" sz="1150" dirty="0">
                <a:solidFill>
                  <a:srgbClr val="1F2A24"/>
                </a:solidFill>
                <a:latin typeface="Calibri" pitchFamily="34" charset="0"/>
                <a:ea typeface="Calibri" pitchFamily="34" charset="-122"/>
                <a:cs typeface="Calibri" pitchFamily="34" charset="-120"/>
              </a:rPr>
              <a:t>La menace la plus critique n'est pas une faille de mon code : c'est la dépendance vulnérable (9). C'est ce qui justifie un scan bloquant plutôt qu'un simple avertissement, et une veille outillée plutôt que ponctuelle.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914400"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9144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DONNÉES</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Chiffrement et protection des données personnelles</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Solutions de cryptage · conformité RGPD</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16</a:t>
            </a:r>
            <a:endParaRPr lang="en-US" sz="1100" dirty="0"/>
          </a:p>
        </p:txBody>
      </p:sp>
      <p:sp>
        <p:nvSpPr>
          <p:cNvPr id="8" name="Shape 6"/>
          <p:cNvSpPr/>
          <p:nvPr/>
        </p:nvSpPr>
        <p:spPr>
          <a:xfrm>
            <a:off x="365760" y="1325880"/>
            <a:ext cx="4114800" cy="3246120"/>
          </a:xfrm>
          <a:prstGeom prst="rect">
            <a:avLst/>
          </a:prstGeom>
          <a:solidFill>
            <a:srgbClr val="F7FAF6"/>
          </a:solidFill>
          <a:ln w="12700">
            <a:solidFill>
              <a:srgbClr val="F7FAF6"/>
            </a:solidFill>
            <a:prstDash val="solid"/>
          </a:ln>
        </p:spPr>
        <p:txBody>
          <a:bodyPr/>
          <a:lstStyle/>
          <a:p>
            <a:endParaRPr lang="fr-FR"/>
          </a:p>
        </p:txBody>
      </p:sp>
      <p:sp>
        <p:nvSpPr>
          <p:cNvPr id="9" name="Shape 7"/>
          <p:cNvSpPr/>
          <p:nvPr/>
        </p:nvSpPr>
        <p:spPr>
          <a:xfrm>
            <a:off x="365760" y="1325880"/>
            <a:ext cx="54864" cy="3246120"/>
          </a:xfrm>
          <a:prstGeom prst="rect">
            <a:avLst/>
          </a:prstGeom>
          <a:solidFill>
            <a:srgbClr val="4B6B59"/>
          </a:solidFill>
          <a:ln w="12700">
            <a:solidFill>
              <a:srgbClr val="4B6B59"/>
            </a:solidFill>
            <a:prstDash val="solid"/>
          </a:ln>
        </p:spPr>
        <p:txBody>
          <a:bodyPr/>
          <a:lstStyle/>
          <a:p>
            <a:endParaRPr lang="fr-FR"/>
          </a:p>
        </p:txBody>
      </p:sp>
      <p:sp>
        <p:nvSpPr>
          <p:cNvPr id="10" name="Text 8"/>
          <p:cNvSpPr/>
          <p:nvPr/>
        </p:nvSpPr>
        <p:spPr>
          <a:xfrm>
            <a:off x="548640" y="1417320"/>
            <a:ext cx="374904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Chiffrement et cryptage</a:t>
            </a:r>
            <a:endParaRPr lang="en-US" sz="1250" dirty="0"/>
          </a:p>
        </p:txBody>
      </p:sp>
      <p:sp>
        <p:nvSpPr>
          <p:cNvPr id="11" name="Text 9"/>
          <p:cNvSpPr/>
          <p:nvPr/>
        </p:nvSpPr>
        <p:spPr>
          <a:xfrm>
            <a:off x="548640" y="1719072"/>
            <a:ext cx="3749040" cy="27432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Mots de passe : BCrypt, facteur 12 — jamais stockés en clair, non réversibles.</a:t>
            </a:r>
            <a:endParaRPr lang="en-US" sz="1100" dirty="0"/>
          </a:p>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Tokens : JWT signés HS256, secret 256 bits en variable d'environnement, expiration courte.</a:t>
            </a:r>
            <a:endParaRPr lang="en-US" sz="1100" dirty="0"/>
          </a:p>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Transport : HTTPS/TLS avec HSTS en production.</a:t>
            </a:r>
            <a:endParaRPr lang="en-US" sz="1100" dirty="0"/>
          </a:p>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Secrets : aucun dans le code — GitHub Secrets, coffre Dependabot séparé, .env ignoré par git.</a:t>
            </a:r>
            <a:endParaRPr lang="en-US" sz="1100" dirty="0"/>
          </a:p>
        </p:txBody>
      </p:sp>
      <p:sp>
        <p:nvSpPr>
          <p:cNvPr id="12" name="Shape 10"/>
          <p:cNvSpPr/>
          <p:nvPr/>
        </p:nvSpPr>
        <p:spPr>
          <a:xfrm>
            <a:off x="4663440" y="1325880"/>
            <a:ext cx="4114800" cy="2148840"/>
          </a:xfrm>
          <a:prstGeom prst="rect">
            <a:avLst/>
          </a:prstGeom>
          <a:solidFill>
            <a:srgbClr val="F7FAF6"/>
          </a:solidFill>
          <a:ln w="12700">
            <a:solidFill>
              <a:srgbClr val="F7FAF6"/>
            </a:solidFill>
            <a:prstDash val="solid"/>
          </a:ln>
        </p:spPr>
        <p:txBody>
          <a:bodyPr/>
          <a:lstStyle/>
          <a:p>
            <a:endParaRPr lang="fr-FR"/>
          </a:p>
        </p:txBody>
      </p:sp>
      <p:sp>
        <p:nvSpPr>
          <p:cNvPr id="13" name="Shape 11"/>
          <p:cNvSpPr/>
          <p:nvPr/>
        </p:nvSpPr>
        <p:spPr>
          <a:xfrm>
            <a:off x="4663440" y="1325880"/>
            <a:ext cx="54864" cy="2148840"/>
          </a:xfrm>
          <a:prstGeom prst="rect">
            <a:avLst/>
          </a:prstGeom>
          <a:solidFill>
            <a:srgbClr val="4B6B59"/>
          </a:solidFill>
          <a:ln w="12700">
            <a:solidFill>
              <a:srgbClr val="4B6B59"/>
            </a:solidFill>
            <a:prstDash val="solid"/>
          </a:ln>
        </p:spPr>
        <p:txBody>
          <a:bodyPr/>
          <a:lstStyle/>
          <a:p>
            <a:endParaRPr lang="fr-FR"/>
          </a:p>
        </p:txBody>
      </p:sp>
      <p:sp>
        <p:nvSpPr>
          <p:cNvPr id="14" name="Text 12"/>
          <p:cNvSpPr/>
          <p:nvPr/>
        </p:nvSpPr>
        <p:spPr>
          <a:xfrm>
            <a:off x="4846320" y="1417320"/>
            <a:ext cx="374904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Conformité RGPD</a:t>
            </a:r>
            <a:endParaRPr lang="en-US" sz="1250" dirty="0"/>
          </a:p>
        </p:txBody>
      </p:sp>
      <p:sp>
        <p:nvSpPr>
          <p:cNvPr id="15" name="Text 13"/>
          <p:cNvSpPr/>
          <p:nvPr/>
        </p:nvSpPr>
        <p:spPr>
          <a:xfrm>
            <a:off x="4846320" y="1719072"/>
            <a:ext cx="3749040" cy="16459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Minimisation : seules les données nécessaires sont collectées.</a:t>
            </a:r>
            <a:endParaRPr lang="en-US" sz="1100" dirty="0"/>
          </a:p>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Droit à l'effacement : DELETE /api/user/me avec anonymisation des journaux.</a:t>
            </a:r>
            <a:endParaRPr lang="en-US" sz="1100" dirty="0"/>
          </a:p>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Traçabilité : log_connexion et log_activite pour l'audit.</a:t>
            </a:r>
            <a:endParaRPr lang="en-US" sz="1100" dirty="0"/>
          </a:p>
          <a:p>
            <a:pPr marL="342900" indent="-342900">
              <a:spcAft>
                <a:spcPts val="600"/>
              </a:spcAft>
              <a:buSzPct val="100000"/>
              <a:buChar char="•"/>
            </a:pPr>
            <a:r>
              <a:rPr lang="en-US" sz="1100" dirty="0">
                <a:solidFill>
                  <a:srgbClr val="1F2A24"/>
                </a:solidFill>
                <a:latin typeface="Calibri" pitchFamily="34" charset="0"/>
                <a:ea typeface="Calibri" pitchFamily="34" charset="-122"/>
                <a:cs typeface="Calibri" pitchFamily="34" charset="-120"/>
              </a:rPr>
              <a:t>Violation de données : notification CNIL sous 72 heures.</a:t>
            </a:r>
            <a:endParaRPr lang="en-US" sz="1100" dirty="0"/>
          </a:p>
        </p:txBody>
      </p:sp>
      <p:sp>
        <p:nvSpPr>
          <p:cNvPr id="16" name="Shape 14"/>
          <p:cNvSpPr/>
          <p:nvPr/>
        </p:nvSpPr>
        <p:spPr>
          <a:xfrm>
            <a:off x="4663440" y="3611880"/>
            <a:ext cx="4114800" cy="960120"/>
          </a:xfrm>
          <a:prstGeom prst="rect">
            <a:avLst/>
          </a:prstGeom>
          <a:solidFill>
            <a:srgbClr val="FDF3F1"/>
          </a:solidFill>
          <a:ln w="12700">
            <a:solidFill>
              <a:srgbClr val="FDF3F1"/>
            </a:solidFill>
            <a:prstDash val="solid"/>
          </a:ln>
        </p:spPr>
        <p:txBody>
          <a:bodyPr/>
          <a:lstStyle/>
          <a:p>
            <a:endParaRPr lang="fr-FR"/>
          </a:p>
        </p:txBody>
      </p:sp>
      <p:sp>
        <p:nvSpPr>
          <p:cNvPr id="17" name="Shape 15"/>
          <p:cNvSpPr/>
          <p:nvPr/>
        </p:nvSpPr>
        <p:spPr>
          <a:xfrm>
            <a:off x="4663440" y="3611880"/>
            <a:ext cx="54864" cy="960120"/>
          </a:xfrm>
          <a:prstGeom prst="rect">
            <a:avLst/>
          </a:prstGeom>
          <a:solidFill>
            <a:srgbClr val="B85042"/>
          </a:solidFill>
          <a:ln w="12700">
            <a:solidFill>
              <a:srgbClr val="B85042"/>
            </a:solidFill>
            <a:prstDash val="solid"/>
          </a:ln>
        </p:spPr>
        <p:txBody>
          <a:bodyPr/>
          <a:lstStyle/>
          <a:p>
            <a:endParaRPr lang="fr-FR"/>
          </a:p>
        </p:txBody>
      </p:sp>
      <p:sp>
        <p:nvSpPr>
          <p:cNvPr id="18" name="Text 16"/>
          <p:cNvSpPr/>
          <p:nvPr/>
        </p:nvSpPr>
        <p:spPr>
          <a:xfrm>
            <a:off x="4846320" y="3675888"/>
            <a:ext cx="3749040" cy="237744"/>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Écart assumé</a:t>
            </a:r>
            <a:endParaRPr lang="en-US" sz="1200" dirty="0"/>
          </a:p>
        </p:txBody>
      </p:sp>
      <p:sp>
        <p:nvSpPr>
          <p:cNvPr id="19" name="Text 17"/>
          <p:cNvSpPr/>
          <p:nvPr/>
        </p:nvSpPr>
        <p:spPr>
          <a:xfrm>
            <a:off x="4846320" y="3931920"/>
            <a:ext cx="3749040" cy="548640"/>
          </a:xfrm>
          <a:prstGeom prst="rect">
            <a:avLst/>
          </a:prstGeom>
          <a:noFill/>
          <a:ln/>
        </p:spPr>
        <p:txBody>
          <a:bodyPr wrap="square" lIns="0" tIns="0" rIns="0" bIns="0" rtlCol="0" anchor="ctr"/>
          <a:lstStyle/>
          <a:p>
            <a:pPr marL="0" indent="0">
              <a:buNone/>
            </a:pPr>
            <a:r>
              <a:rPr lang="en-US" sz="1050" dirty="0">
                <a:solidFill>
                  <a:srgbClr val="1F2A24"/>
                </a:solidFill>
                <a:latin typeface="Calibri" pitchFamily="34" charset="0"/>
                <a:ea typeface="Calibri" pitchFamily="34" charset="-122"/>
                <a:cs typeface="Calibri" pitchFamily="34" charset="-120"/>
              </a:rPr>
              <a:t>Le consentement n'est pas historisé en base. Criticité Élevée, identifiée et inscrite au plan d'action.</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01168"/>
            <a:ext cx="914400" cy="274320"/>
          </a:xfrm>
          <a:prstGeom prst="roundRect">
            <a:avLst>
              <a:gd name="adj" fmla="val 20000"/>
            </a:avLst>
          </a:prstGeom>
          <a:solidFill>
            <a:srgbClr val="4B6B59"/>
          </a:solidFill>
          <a:ln w="12700">
            <a:solidFill>
              <a:srgbClr val="4B6B59"/>
            </a:solidFill>
            <a:prstDash val="solid"/>
          </a:ln>
        </p:spPr>
        <p:txBody>
          <a:bodyPr/>
          <a:lstStyle/>
          <a:p>
            <a:endParaRPr lang="fr-FR"/>
          </a:p>
        </p:txBody>
      </p:sp>
      <p:sp>
        <p:nvSpPr>
          <p:cNvPr id="3" name="Text 1"/>
          <p:cNvSpPr/>
          <p:nvPr/>
        </p:nvSpPr>
        <p:spPr>
          <a:xfrm>
            <a:off x="365760" y="201168"/>
            <a:ext cx="9144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CRISE</a:t>
            </a:r>
            <a:endParaRPr lang="en-US" sz="1000" dirty="0"/>
          </a:p>
        </p:txBody>
      </p:sp>
      <p:sp>
        <p:nvSpPr>
          <p:cNvPr id="4" name="Text 2"/>
          <p:cNvSpPr/>
          <p:nvPr/>
        </p:nvSpPr>
        <p:spPr>
          <a:xfrm>
            <a:off x="365760" y="548640"/>
            <a:ext cx="8412480" cy="457200"/>
          </a:xfrm>
          <a:prstGeom prst="rect">
            <a:avLst/>
          </a:prstGeom>
          <a:noFill/>
          <a:ln/>
        </p:spPr>
        <p:txBody>
          <a:bodyPr wrap="square" lIns="0" tIns="0" rIns="0" bIns="0" rtlCol="0" anchor="ctr"/>
          <a:lstStyle/>
          <a:p>
            <a:pPr marL="0" indent="0">
              <a:buNone/>
            </a:pPr>
            <a:r>
              <a:rPr lang="en-US" sz="2700" b="1" dirty="0">
                <a:solidFill>
                  <a:srgbClr val="2C5F4A"/>
                </a:solidFill>
                <a:latin typeface="Calibri" pitchFamily="34" charset="0"/>
                <a:ea typeface="Calibri" pitchFamily="34" charset="-122"/>
                <a:cs typeface="Calibri" pitchFamily="34" charset="-120"/>
              </a:rPr>
              <a:t>Gestion de crise et bonnes pratiques</a:t>
            </a:r>
            <a:endParaRPr lang="en-US" sz="2700" dirty="0"/>
          </a:p>
        </p:txBody>
      </p:sp>
      <p:sp>
        <p:nvSpPr>
          <p:cNvPr id="5" name="Text 3"/>
          <p:cNvSpPr/>
          <p:nvPr/>
        </p:nvSpPr>
        <p:spPr>
          <a:xfrm>
            <a:off x="365760" y="987552"/>
            <a:ext cx="8412480" cy="256032"/>
          </a:xfrm>
          <a:prstGeom prst="rect">
            <a:avLst/>
          </a:prstGeom>
          <a:noFill/>
          <a:ln/>
        </p:spPr>
        <p:txBody>
          <a:bodyPr wrap="square" lIns="0" tIns="0" rIns="0" bIns="0" rtlCol="0" anchor="ctr"/>
          <a:lstStyle/>
          <a:p>
            <a:pPr marL="0" indent="0">
              <a:buNone/>
            </a:pPr>
            <a:r>
              <a:rPr lang="en-US" sz="1250" dirty="0">
                <a:solidFill>
                  <a:srgbClr val="7A9A87"/>
                </a:solidFill>
                <a:latin typeface="Calibri" pitchFamily="34" charset="0"/>
                <a:ea typeface="Calibri" pitchFamily="34" charset="-122"/>
                <a:cs typeface="Calibri" pitchFamily="34" charset="-120"/>
              </a:rPr>
              <a:t>Que faire quand la sécurité est prise en défaut · pratiques de développement</a:t>
            </a:r>
            <a:endParaRPr lang="en-US" sz="1250" dirty="0"/>
          </a:p>
        </p:txBody>
      </p:sp>
      <p:sp>
        <p:nvSpPr>
          <p:cNvPr id="6" name="Shape 4"/>
          <p:cNvSpPr/>
          <p:nvPr/>
        </p:nvSpPr>
        <p:spPr>
          <a:xfrm>
            <a:off x="228600" y="4736592"/>
            <a:ext cx="338328" cy="338328"/>
          </a:xfrm>
          <a:prstGeom prst="ellipse">
            <a:avLst/>
          </a:prstGeom>
          <a:solidFill>
            <a:srgbClr val="4B6B59"/>
          </a:solidFill>
          <a:ln w="12700">
            <a:solidFill>
              <a:srgbClr val="4B6B59"/>
            </a:solidFill>
            <a:prstDash val="solid"/>
          </a:ln>
        </p:spPr>
        <p:txBody>
          <a:bodyPr/>
          <a:lstStyle/>
          <a:p>
            <a:endParaRPr lang="fr-FR"/>
          </a:p>
        </p:txBody>
      </p:sp>
      <p:sp>
        <p:nvSpPr>
          <p:cNvPr id="7" name="Text 5"/>
          <p:cNvSpPr/>
          <p:nvPr/>
        </p:nvSpPr>
        <p:spPr>
          <a:xfrm>
            <a:off x="228600" y="4736592"/>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17</a:t>
            </a:r>
            <a:endParaRPr lang="en-US" sz="1100" dirty="0"/>
          </a:p>
        </p:txBody>
      </p:sp>
      <p:sp>
        <p:nvSpPr>
          <p:cNvPr id="8" name="Shape 6"/>
          <p:cNvSpPr/>
          <p:nvPr/>
        </p:nvSpPr>
        <p:spPr>
          <a:xfrm>
            <a:off x="365760" y="1325880"/>
            <a:ext cx="2688336" cy="1005840"/>
          </a:xfrm>
          <a:prstGeom prst="rect">
            <a:avLst/>
          </a:prstGeom>
          <a:solidFill>
            <a:srgbClr val="F7FAF6"/>
          </a:solidFill>
          <a:ln w="12700">
            <a:solidFill>
              <a:srgbClr val="F7FAF6"/>
            </a:solidFill>
            <a:prstDash val="solid"/>
          </a:ln>
        </p:spPr>
        <p:txBody>
          <a:bodyPr/>
          <a:lstStyle/>
          <a:p>
            <a:endParaRPr lang="fr-FR"/>
          </a:p>
        </p:txBody>
      </p:sp>
      <p:sp>
        <p:nvSpPr>
          <p:cNvPr id="9" name="Shape 7"/>
          <p:cNvSpPr/>
          <p:nvPr/>
        </p:nvSpPr>
        <p:spPr>
          <a:xfrm>
            <a:off x="365760" y="1325880"/>
            <a:ext cx="54864" cy="1005840"/>
          </a:xfrm>
          <a:prstGeom prst="rect">
            <a:avLst/>
          </a:prstGeom>
          <a:solidFill>
            <a:srgbClr val="4B6B59"/>
          </a:solidFill>
          <a:ln w="12700">
            <a:solidFill>
              <a:srgbClr val="4B6B59"/>
            </a:solidFill>
            <a:prstDash val="solid"/>
          </a:ln>
        </p:spPr>
        <p:txBody>
          <a:bodyPr/>
          <a:lstStyle/>
          <a:p>
            <a:endParaRPr lang="fr-FR"/>
          </a:p>
        </p:txBody>
      </p:sp>
      <p:sp>
        <p:nvSpPr>
          <p:cNvPr id="10" name="Shape 8"/>
          <p:cNvSpPr/>
          <p:nvPr/>
        </p:nvSpPr>
        <p:spPr>
          <a:xfrm>
            <a:off x="530352" y="1453896"/>
            <a:ext cx="292608" cy="292608"/>
          </a:xfrm>
          <a:prstGeom prst="ellipse">
            <a:avLst/>
          </a:prstGeom>
          <a:solidFill>
            <a:srgbClr val="4B6B59"/>
          </a:solidFill>
          <a:ln w="12700">
            <a:solidFill>
              <a:srgbClr val="4B6B59"/>
            </a:solidFill>
            <a:prstDash val="solid"/>
          </a:ln>
        </p:spPr>
        <p:txBody>
          <a:bodyPr/>
          <a:lstStyle/>
          <a:p>
            <a:endParaRPr lang="fr-FR"/>
          </a:p>
        </p:txBody>
      </p:sp>
      <p:sp>
        <p:nvSpPr>
          <p:cNvPr id="11" name="Text 9"/>
          <p:cNvSpPr/>
          <p:nvPr/>
        </p:nvSpPr>
        <p:spPr>
          <a:xfrm>
            <a:off x="530352" y="145389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896112" y="1444752"/>
            <a:ext cx="2011680" cy="274320"/>
          </a:xfrm>
          <a:prstGeom prst="rect">
            <a:avLst/>
          </a:prstGeom>
          <a:noFill/>
          <a:ln/>
        </p:spPr>
        <p:txBody>
          <a:bodyPr wrap="square" lIns="0" tIns="0" rIns="0" bIns="0" rtlCol="0" anchor="ctr"/>
          <a:lstStyle/>
          <a:p>
            <a:pPr marL="0" indent="0">
              <a:buNone/>
            </a:pPr>
            <a:r>
              <a:rPr lang="en-US" sz="1250" b="1" dirty="0">
                <a:solidFill>
                  <a:srgbClr val="2C5F4A"/>
                </a:solidFill>
                <a:latin typeface="Calibri" pitchFamily="34" charset="0"/>
                <a:ea typeface="Calibri" pitchFamily="34" charset="-122"/>
                <a:cs typeface="Calibri" pitchFamily="34" charset="-120"/>
              </a:rPr>
              <a:t>Détection</a:t>
            </a:r>
            <a:endParaRPr lang="en-US" sz="1250" dirty="0"/>
          </a:p>
        </p:txBody>
      </p:sp>
      <p:sp>
        <p:nvSpPr>
          <p:cNvPr id="13" name="Text 11"/>
          <p:cNvSpPr/>
          <p:nvPr/>
        </p:nvSpPr>
        <p:spPr>
          <a:xfrm>
            <a:off x="548640" y="1783080"/>
            <a:ext cx="2377440" cy="502920"/>
          </a:xfrm>
          <a:prstGeom prst="rect">
            <a:avLst/>
          </a:prstGeom>
          <a:noFill/>
          <a:ln/>
        </p:spPr>
        <p:txBody>
          <a:bodyPr wrap="square" lIns="0" tIns="0" rIns="0" bIns="0" rtlCol="0" anchor="ctr"/>
          <a:lstStyle/>
          <a:p>
            <a:pPr marL="0" indent="0">
              <a:buNone/>
            </a:pPr>
            <a:r>
              <a:rPr lang="en-US" sz="1000" dirty="0">
                <a:solidFill>
                  <a:srgbClr val="1F2A24"/>
                </a:solidFill>
                <a:latin typeface="Calibri" pitchFamily="34" charset="0"/>
                <a:ea typeface="Calibri" pitchFamily="34" charset="-122"/>
                <a:cs typeface="Calibri" pitchFamily="34" charset="-120"/>
              </a:rPr>
              <a:t>Alerte Dependabot, scan en échec, logs anormaux ou signalement</a:t>
            </a:r>
            <a:endParaRPr lang="en-US" sz="1000" dirty="0"/>
          </a:p>
        </p:txBody>
      </p:sp>
      <p:sp>
        <p:nvSpPr>
          <p:cNvPr id="14" name="Shape 12"/>
          <p:cNvSpPr/>
          <p:nvPr/>
        </p:nvSpPr>
        <p:spPr>
          <a:xfrm>
            <a:off x="3227832" y="1325880"/>
            <a:ext cx="2688336" cy="1005840"/>
          </a:xfrm>
          <a:prstGeom prst="rect">
            <a:avLst/>
          </a:prstGeom>
          <a:solidFill>
            <a:srgbClr val="F7FAF6"/>
          </a:solidFill>
          <a:ln w="12700">
            <a:solidFill>
              <a:srgbClr val="F7FAF6"/>
            </a:solidFill>
            <a:prstDash val="solid"/>
          </a:ln>
        </p:spPr>
        <p:txBody>
          <a:bodyPr/>
          <a:lstStyle/>
          <a:p>
            <a:endParaRPr lang="fr-FR"/>
          </a:p>
        </p:txBody>
      </p:sp>
      <p:sp>
        <p:nvSpPr>
          <p:cNvPr id="15" name="Shape 13"/>
          <p:cNvSpPr/>
          <p:nvPr/>
        </p:nvSpPr>
        <p:spPr>
          <a:xfrm>
            <a:off x="3227832" y="1325880"/>
            <a:ext cx="54864" cy="1005840"/>
          </a:xfrm>
          <a:prstGeom prst="rect">
            <a:avLst/>
          </a:prstGeom>
          <a:solidFill>
            <a:srgbClr val="4B6B59"/>
          </a:solidFill>
          <a:ln w="12700">
            <a:solidFill>
              <a:srgbClr val="4B6B59"/>
            </a:solidFill>
            <a:prstDash val="solid"/>
          </a:ln>
        </p:spPr>
        <p:txBody>
          <a:bodyPr/>
          <a:lstStyle/>
          <a:p>
            <a:endParaRPr lang="fr-FR"/>
          </a:p>
        </p:txBody>
      </p:sp>
      <p:sp>
        <p:nvSpPr>
          <p:cNvPr id="16" name="Shape 14"/>
          <p:cNvSpPr/>
          <p:nvPr/>
        </p:nvSpPr>
        <p:spPr>
          <a:xfrm>
            <a:off x="3392424" y="1453896"/>
            <a:ext cx="292608" cy="292608"/>
          </a:xfrm>
          <a:prstGeom prst="ellipse">
            <a:avLst/>
          </a:prstGeom>
          <a:solidFill>
            <a:srgbClr val="4B6B59"/>
          </a:solidFill>
          <a:ln w="12700">
            <a:solidFill>
              <a:srgbClr val="4B6B59"/>
            </a:solidFill>
            <a:prstDash val="solid"/>
          </a:ln>
        </p:spPr>
        <p:txBody>
          <a:bodyPr/>
          <a:lstStyle/>
          <a:p>
            <a:endParaRPr lang="fr-FR"/>
          </a:p>
        </p:txBody>
      </p:sp>
      <p:sp>
        <p:nvSpPr>
          <p:cNvPr id="17" name="Text 15"/>
          <p:cNvSpPr/>
          <p:nvPr/>
        </p:nvSpPr>
        <p:spPr>
          <a:xfrm>
            <a:off x="3392424" y="145389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3758184" y="1444752"/>
            <a:ext cx="2011680" cy="274320"/>
          </a:xfrm>
          <a:prstGeom prst="rect">
            <a:avLst/>
          </a:prstGeom>
          <a:noFill/>
          <a:ln/>
        </p:spPr>
        <p:txBody>
          <a:bodyPr wrap="square" lIns="0" tIns="0" rIns="0" bIns="0" rtlCol="0" anchor="ctr"/>
          <a:lstStyle/>
          <a:p>
            <a:pPr marL="0" indent="0">
              <a:buNone/>
            </a:pPr>
            <a:r>
              <a:rPr lang="en-US" sz="1250" b="1" dirty="0">
                <a:solidFill>
                  <a:srgbClr val="2C5F4A"/>
                </a:solidFill>
                <a:latin typeface="Calibri" pitchFamily="34" charset="0"/>
                <a:ea typeface="Calibri" pitchFamily="34" charset="-122"/>
                <a:cs typeface="Calibri" pitchFamily="34" charset="-120"/>
              </a:rPr>
              <a:t>Isolation</a:t>
            </a:r>
            <a:endParaRPr lang="en-US" sz="1250" dirty="0"/>
          </a:p>
        </p:txBody>
      </p:sp>
      <p:sp>
        <p:nvSpPr>
          <p:cNvPr id="19" name="Text 17"/>
          <p:cNvSpPr/>
          <p:nvPr/>
        </p:nvSpPr>
        <p:spPr>
          <a:xfrm>
            <a:off x="3410712" y="1783080"/>
            <a:ext cx="2377440" cy="502920"/>
          </a:xfrm>
          <a:prstGeom prst="rect">
            <a:avLst/>
          </a:prstGeom>
          <a:noFill/>
          <a:ln/>
        </p:spPr>
        <p:txBody>
          <a:bodyPr wrap="square" lIns="0" tIns="0" rIns="0" bIns="0" rtlCol="0" anchor="ctr"/>
          <a:lstStyle/>
          <a:p>
            <a:pPr marL="0" indent="0">
              <a:buNone/>
            </a:pPr>
            <a:r>
              <a:rPr lang="en-US" sz="1000" dirty="0">
                <a:solidFill>
                  <a:srgbClr val="1F2A24"/>
                </a:solidFill>
                <a:latin typeface="Calibri" pitchFamily="34" charset="0"/>
                <a:ea typeface="Calibri" pitchFamily="34" charset="-122"/>
                <a:cs typeface="Calibri" pitchFamily="34" charset="-120"/>
              </a:rPr>
              <a:t>Couper le service ; rotation du secret JWT si compromission</a:t>
            </a:r>
            <a:endParaRPr lang="en-US" sz="1000" dirty="0"/>
          </a:p>
        </p:txBody>
      </p:sp>
      <p:sp>
        <p:nvSpPr>
          <p:cNvPr id="20" name="Shape 18"/>
          <p:cNvSpPr/>
          <p:nvPr/>
        </p:nvSpPr>
        <p:spPr>
          <a:xfrm>
            <a:off x="6089904" y="1325880"/>
            <a:ext cx="2688336" cy="1005840"/>
          </a:xfrm>
          <a:prstGeom prst="rect">
            <a:avLst/>
          </a:prstGeom>
          <a:solidFill>
            <a:srgbClr val="F7FAF6"/>
          </a:solidFill>
          <a:ln w="12700">
            <a:solidFill>
              <a:srgbClr val="F7FAF6"/>
            </a:solidFill>
            <a:prstDash val="solid"/>
          </a:ln>
        </p:spPr>
        <p:txBody>
          <a:bodyPr/>
          <a:lstStyle/>
          <a:p>
            <a:endParaRPr lang="fr-FR"/>
          </a:p>
        </p:txBody>
      </p:sp>
      <p:sp>
        <p:nvSpPr>
          <p:cNvPr id="21" name="Shape 19"/>
          <p:cNvSpPr/>
          <p:nvPr/>
        </p:nvSpPr>
        <p:spPr>
          <a:xfrm>
            <a:off x="6089904" y="1325880"/>
            <a:ext cx="54864" cy="1005840"/>
          </a:xfrm>
          <a:prstGeom prst="rect">
            <a:avLst/>
          </a:prstGeom>
          <a:solidFill>
            <a:srgbClr val="4B6B59"/>
          </a:solidFill>
          <a:ln w="12700">
            <a:solidFill>
              <a:srgbClr val="4B6B59"/>
            </a:solidFill>
            <a:prstDash val="solid"/>
          </a:ln>
        </p:spPr>
        <p:txBody>
          <a:bodyPr/>
          <a:lstStyle/>
          <a:p>
            <a:endParaRPr lang="fr-FR"/>
          </a:p>
        </p:txBody>
      </p:sp>
      <p:sp>
        <p:nvSpPr>
          <p:cNvPr id="22" name="Shape 20"/>
          <p:cNvSpPr/>
          <p:nvPr/>
        </p:nvSpPr>
        <p:spPr>
          <a:xfrm>
            <a:off x="6254496" y="1453896"/>
            <a:ext cx="292608" cy="292608"/>
          </a:xfrm>
          <a:prstGeom prst="ellipse">
            <a:avLst/>
          </a:prstGeom>
          <a:solidFill>
            <a:srgbClr val="4B6B59"/>
          </a:solidFill>
          <a:ln w="12700">
            <a:solidFill>
              <a:srgbClr val="4B6B59"/>
            </a:solidFill>
            <a:prstDash val="solid"/>
          </a:ln>
        </p:spPr>
        <p:txBody>
          <a:bodyPr/>
          <a:lstStyle/>
          <a:p>
            <a:endParaRPr lang="fr-FR"/>
          </a:p>
        </p:txBody>
      </p:sp>
      <p:sp>
        <p:nvSpPr>
          <p:cNvPr id="23" name="Text 21"/>
          <p:cNvSpPr/>
          <p:nvPr/>
        </p:nvSpPr>
        <p:spPr>
          <a:xfrm>
            <a:off x="6254496" y="145389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2"/>
          <p:cNvSpPr/>
          <p:nvPr/>
        </p:nvSpPr>
        <p:spPr>
          <a:xfrm>
            <a:off x="6620256" y="1444752"/>
            <a:ext cx="2011680" cy="274320"/>
          </a:xfrm>
          <a:prstGeom prst="rect">
            <a:avLst/>
          </a:prstGeom>
          <a:noFill/>
          <a:ln/>
        </p:spPr>
        <p:txBody>
          <a:bodyPr wrap="square" lIns="0" tIns="0" rIns="0" bIns="0" rtlCol="0" anchor="ctr"/>
          <a:lstStyle/>
          <a:p>
            <a:pPr marL="0" indent="0">
              <a:buNone/>
            </a:pPr>
            <a:r>
              <a:rPr lang="en-US" sz="1250" b="1" dirty="0">
                <a:solidFill>
                  <a:srgbClr val="2C5F4A"/>
                </a:solidFill>
                <a:latin typeface="Calibri" pitchFamily="34" charset="0"/>
                <a:ea typeface="Calibri" pitchFamily="34" charset="-122"/>
                <a:cs typeface="Calibri" pitchFamily="34" charset="-120"/>
              </a:rPr>
              <a:t>Analyse</a:t>
            </a:r>
            <a:endParaRPr lang="en-US" sz="1250" dirty="0"/>
          </a:p>
        </p:txBody>
      </p:sp>
      <p:sp>
        <p:nvSpPr>
          <p:cNvPr id="25" name="Text 23"/>
          <p:cNvSpPr/>
          <p:nvPr/>
        </p:nvSpPr>
        <p:spPr>
          <a:xfrm>
            <a:off x="6272784" y="1783080"/>
            <a:ext cx="2377440" cy="502920"/>
          </a:xfrm>
          <a:prstGeom prst="rect">
            <a:avLst/>
          </a:prstGeom>
          <a:noFill/>
          <a:ln/>
        </p:spPr>
        <p:txBody>
          <a:bodyPr wrap="square" lIns="0" tIns="0" rIns="0" bIns="0" rtlCol="0" anchor="ctr"/>
          <a:lstStyle/>
          <a:p>
            <a:pPr marL="0" indent="0">
              <a:buNone/>
            </a:pPr>
            <a:r>
              <a:rPr lang="en-US" sz="1000" dirty="0">
                <a:solidFill>
                  <a:srgbClr val="1F2A24"/>
                </a:solidFill>
                <a:latin typeface="Calibri" pitchFamily="34" charset="0"/>
                <a:ea typeface="Calibri" pitchFamily="34" charset="-122"/>
                <a:cs typeface="Calibri" pitchFamily="34" charset="-120"/>
              </a:rPr>
              <a:t>Journaux d'activité et de connexion pour délimiter l'impact</a:t>
            </a:r>
            <a:endParaRPr lang="en-US" sz="1000" dirty="0"/>
          </a:p>
        </p:txBody>
      </p:sp>
      <p:sp>
        <p:nvSpPr>
          <p:cNvPr id="26" name="Shape 24"/>
          <p:cNvSpPr/>
          <p:nvPr/>
        </p:nvSpPr>
        <p:spPr>
          <a:xfrm>
            <a:off x="365760" y="2441448"/>
            <a:ext cx="2688336" cy="1005840"/>
          </a:xfrm>
          <a:prstGeom prst="rect">
            <a:avLst/>
          </a:prstGeom>
          <a:solidFill>
            <a:srgbClr val="F7FAF6"/>
          </a:solidFill>
          <a:ln w="12700">
            <a:solidFill>
              <a:srgbClr val="F7FAF6"/>
            </a:solidFill>
            <a:prstDash val="solid"/>
          </a:ln>
        </p:spPr>
        <p:txBody>
          <a:bodyPr/>
          <a:lstStyle/>
          <a:p>
            <a:endParaRPr lang="fr-FR"/>
          </a:p>
        </p:txBody>
      </p:sp>
      <p:sp>
        <p:nvSpPr>
          <p:cNvPr id="27" name="Shape 25"/>
          <p:cNvSpPr/>
          <p:nvPr/>
        </p:nvSpPr>
        <p:spPr>
          <a:xfrm>
            <a:off x="365760" y="2441448"/>
            <a:ext cx="54864" cy="1005840"/>
          </a:xfrm>
          <a:prstGeom prst="rect">
            <a:avLst/>
          </a:prstGeom>
          <a:solidFill>
            <a:srgbClr val="4B6B59"/>
          </a:solidFill>
          <a:ln w="12700">
            <a:solidFill>
              <a:srgbClr val="4B6B59"/>
            </a:solidFill>
            <a:prstDash val="solid"/>
          </a:ln>
        </p:spPr>
        <p:txBody>
          <a:bodyPr/>
          <a:lstStyle/>
          <a:p>
            <a:endParaRPr lang="fr-FR"/>
          </a:p>
        </p:txBody>
      </p:sp>
      <p:sp>
        <p:nvSpPr>
          <p:cNvPr id="28" name="Shape 26"/>
          <p:cNvSpPr/>
          <p:nvPr/>
        </p:nvSpPr>
        <p:spPr>
          <a:xfrm>
            <a:off x="530352" y="2569464"/>
            <a:ext cx="292608" cy="292608"/>
          </a:xfrm>
          <a:prstGeom prst="ellipse">
            <a:avLst/>
          </a:prstGeom>
          <a:solidFill>
            <a:srgbClr val="4B6B59"/>
          </a:solidFill>
          <a:ln w="12700">
            <a:solidFill>
              <a:srgbClr val="4B6B59"/>
            </a:solidFill>
            <a:prstDash val="solid"/>
          </a:ln>
        </p:spPr>
        <p:txBody>
          <a:bodyPr/>
          <a:lstStyle/>
          <a:p>
            <a:endParaRPr lang="fr-FR"/>
          </a:p>
        </p:txBody>
      </p:sp>
      <p:sp>
        <p:nvSpPr>
          <p:cNvPr id="29" name="Text 27"/>
          <p:cNvSpPr/>
          <p:nvPr/>
        </p:nvSpPr>
        <p:spPr>
          <a:xfrm>
            <a:off x="530352" y="25694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Text 28"/>
          <p:cNvSpPr/>
          <p:nvPr/>
        </p:nvSpPr>
        <p:spPr>
          <a:xfrm>
            <a:off x="896112" y="2560320"/>
            <a:ext cx="2011680" cy="274320"/>
          </a:xfrm>
          <a:prstGeom prst="rect">
            <a:avLst/>
          </a:prstGeom>
          <a:noFill/>
          <a:ln/>
        </p:spPr>
        <p:txBody>
          <a:bodyPr wrap="square" lIns="0" tIns="0" rIns="0" bIns="0" rtlCol="0" anchor="ctr"/>
          <a:lstStyle/>
          <a:p>
            <a:pPr marL="0" indent="0">
              <a:buNone/>
            </a:pPr>
            <a:r>
              <a:rPr lang="en-US" sz="1250" b="1" dirty="0">
                <a:solidFill>
                  <a:srgbClr val="2C5F4A"/>
                </a:solidFill>
                <a:latin typeface="Calibri" pitchFamily="34" charset="0"/>
                <a:ea typeface="Calibri" pitchFamily="34" charset="-122"/>
                <a:cs typeface="Calibri" pitchFamily="34" charset="-120"/>
              </a:rPr>
              <a:t>Correction</a:t>
            </a:r>
            <a:endParaRPr lang="en-US" sz="1250" dirty="0"/>
          </a:p>
        </p:txBody>
      </p:sp>
      <p:sp>
        <p:nvSpPr>
          <p:cNvPr id="31" name="Text 29"/>
          <p:cNvSpPr/>
          <p:nvPr/>
        </p:nvSpPr>
        <p:spPr>
          <a:xfrm>
            <a:off x="548640" y="2898648"/>
            <a:ext cx="2377440" cy="502920"/>
          </a:xfrm>
          <a:prstGeom prst="rect">
            <a:avLst/>
          </a:prstGeom>
          <a:noFill/>
          <a:ln/>
        </p:spPr>
        <p:txBody>
          <a:bodyPr wrap="square" lIns="0" tIns="0" rIns="0" bIns="0" rtlCol="0" anchor="ctr"/>
          <a:lstStyle/>
          <a:p>
            <a:pPr marL="0" indent="0">
              <a:buNone/>
            </a:pPr>
            <a:r>
              <a:rPr lang="en-US" sz="1000" dirty="0">
                <a:solidFill>
                  <a:srgbClr val="1F2A24"/>
                </a:solidFill>
                <a:latin typeface="Calibri" pitchFamily="34" charset="0"/>
                <a:ea typeface="Calibri" pitchFamily="34" charset="-122"/>
                <a:cs typeface="Calibri" pitchFamily="34" charset="-120"/>
              </a:rPr>
              <a:t>Patch → pull request → CI verte → redéploiement</a:t>
            </a:r>
            <a:endParaRPr lang="en-US" sz="1000" dirty="0"/>
          </a:p>
        </p:txBody>
      </p:sp>
      <p:sp>
        <p:nvSpPr>
          <p:cNvPr id="32" name="Shape 30"/>
          <p:cNvSpPr/>
          <p:nvPr/>
        </p:nvSpPr>
        <p:spPr>
          <a:xfrm>
            <a:off x="3227832" y="2441448"/>
            <a:ext cx="2688336" cy="1005840"/>
          </a:xfrm>
          <a:prstGeom prst="rect">
            <a:avLst/>
          </a:prstGeom>
          <a:solidFill>
            <a:srgbClr val="F7FAF6"/>
          </a:solidFill>
          <a:ln w="12700">
            <a:solidFill>
              <a:srgbClr val="F7FAF6"/>
            </a:solidFill>
            <a:prstDash val="solid"/>
          </a:ln>
        </p:spPr>
        <p:txBody>
          <a:bodyPr/>
          <a:lstStyle/>
          <a:p>
            <a:endParaRPr lang="fr-FR"/>
          </a:p>
        </p:txBody>
      </p:sp>
      <p:sp>
        <p:nvSpPr>
          <p:cNvPr id="33" name="Shape 31"/>
          <p:cNvSpPr/>
          <p:nvPr/>
        </p:nvSpPr>
        <p:spPr>
          <a:xfrm>
            <a:off x="3227832" y="2441448"/>
            <a:ext cx="54864" cy="1005840"/>
          </a:xfrm>
          <a:prstGeom prst="rect">
            <a:avLst/>
          </a:prstGeom>
          <a:solidFill>
            <a:srgbClr val="4B6B59"/>
          </a:solidFill>
          <a:ln w="12700">
            <a:solidFill>
              <a:srgbClr val="4B6B59"/>
            </a:solidFill>
            <a:prstDash val="solid"/>
          </a:ln>
        </p:spPr>
        <p:txBody>
          <a:bodyPr/>
          <a:lstStyle/>
          <a:p>
            <a:endParaRPr lang="fr-FR"/>
          </a:p>
        </p:txBody>
      </p:sp>
      <p:sp>
        <p:nvSpPr>
          <p:cNvPr id="34" name="Shape 32"/>
          <p:cNvSpPr/>
          <p:nvPr/>
        </p:nvSpPr>
        <p:spPr>
          <a:xfrm>
            <a:off x="3392424" y="2569464"/>
            <a:ext cx="292608" cy="292608"/>
          </a:xfrm>
          <a:prstGeom prst="ellipse">
            <a:avLst/>
          </a:prstGeom>
          <a:solidFill>
            <a:srgbClr val="4B6B59"/>
          </a:solidFill>
          <a:ln w="12700">
            <a:solidFill>
              <a:srgbClr val="4B6B59"/>
            </a:solidFill>
            <a:prstDash val="solid"/>
          </a:ln>
        </p:spPr>
        <p:txBody>
          <a:bodyPr/>
          <a:lstStyle/>
          <a:p>
            <a:endParaRPr lang="fr-FR"/>
          </a:p>
        </p:txBody>
      </p:sp>
      <p:sp>
        <p:nvSpPr>
          <p:cNvPr id="35" name="Text 33"/>
          <p:cNvSpPr/>
          <p:nvPr/>
        </p:nvSpPr>
        <p:spPr>
          <a:xfrm>
            <a:off x="3392424" y="25694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6" name="Text 34"/>
          <p:cNvSpPr/>
          <p:nvPr/>
        </p:nvSpPr>
        <p:spPr>
          <a:xfrm>
            <a:off x="3758184" y="2560320"/>
            <a:ext cx="2011680" cy="274320"/>
          </a:xfrm>
          <a:prstGeom prst="rect">
            <a:avLst/>
          </a:prstGeom>
          <a:noFill/>
          <a:ln/>
        </p:spPr>
        <p:txBody>
          <a:bodyPr wrap="square" lIns="0" tIns="0" rIns="0" bIns="0" rtlCol="0" anchor="ctr"/>
          <a:lstStyle/>
          <a:p>
            <a:pPr marL="0" indent="0">
              <a:buNone/>
            </a:pPr>
            <a:r>
              <a:rPr lang="en-US" sz="1250" b="1" dirty="0">
                <a:solidFill>
                  <a:srgbClr val="2C5F4A"/>
                </a:solidFill>
                <a:latin typeface="Calibri" pitchFamily="34" charset="0"/>
                <a:ea typeface="Calibri" pitchFamily="34" charset="-122"/>
                <a:cs typeface="Calibri" pitchFamily="34" charset="-120"/>
              </a:rPr>
              <a:t>Communication</a:t>
            </a:r>
            <a:endParaRPr lang="en-US" sz="1250" dirty="0"/>
          </a:p>
        </p:txBody>
      </p:sp>
      <p:sp>
        <p:nvSpPr>
          <p:cNvPr id="37" name="Text 35"/>
          <p:cNvSpPr/>
          <p:nvPr/>
        </p:nvSpPr>
        <p:spPr>
          <a:xfrm>
            <a:off x="3410712" y="2898648"/>
            <a:ext cx="2377440" cy="502920"/>
          </a:xfrm>
          <a:prstGeom prst="rect">
            <a:avLst/>
          </a:prstGeom>
          <a:noFill/>
          <a:ln/>
        </p:spPr>
        <p:txBody>
          <a:bodyPr wrap="square" lIns="0" tIns="0" rIns="0" bIns="0" rtlCol="0" anchor="ctr"/>
          <a:lstStyle/>
          <a:p>
            <a:pPr marL="0" indent="0">
              <a:buNone/>
            </a:pPr>
            <a:r>
              <a:rPr lang="en-US" sz="1000" dirty="0">
                <a:solidFill>
                  <a:srgbClr val="1F2A24"/>
                </a:solidFill>
                <a:latin typeface="Calibri" pitchFamily="34" charset="0"/>
                <a:ea typeface="Calibri" pitchFamily="34" charset="-122"/>
                <a:cs typeface="Calibri" pitchFamily="34" charset="-120"/>
              </a:rPr>
              <a:t>Information des utilisateurs concernés · escalade</a:t>
            </a:r>
            <a:endParaRPr lang="en-US" sz="1000" dirty="0"/>
          </a:p>
        </p:txBody>
      </p:sp>
      <p:sp>
        <p:nvSpPr>
          <p:cNvPr id="38" name="Shape 36"/>
          <p:cNvSpPr/>
          <p:nvPr/>
        </p:nvSpPr>
        <p:spPr>
          <a:xfrm>
            <a:off x="6089904" y="2441448"/>
            <a:ext cx="2688336" cy="1005840"/>
          </a:xfrm>
          <a:prstGeom prst="rect">
            <a:avLst/>
          </a:prstGeom>
          <a:solidFill>
            <a:srgbClr val="F7FAF6"/>
          </a:solidFill>
          <a:ln w="12700">
            <a:solidFill>
              <a:srgbClr val="F7FAF6"/>
            </a:solidFill>
            <a:prstDash val="solid"/>
          </a:ln>
        </p:spPr>
        <p:txBody>
          <a:bodyPr/>
          <a:lstStyle/>
          <a:p>
            <a:endParaRPr lang="fr-FR"/>
          </a:p>
        </p:txBody>
      </p:sp>
      <p:sp>
        <p:nvSpPr>
          <p:cNvPr id="39" name="Shape 37"/>
          <p:cNvSpPr/>
          <p:nvPr/>
        </p:nvSpPr>
        <p:spPr>
          <a:xfrm>
            <a:off x="6089904" y="2441448"/>
            <a:ext cx="54864" cy="1005840"/>
          </a:xfrm>
          <a:prstGeom prst="rect">
            <a:avLst/>
          </a:prstGeom>
          <a:solidFill>
            <a:srgbClr val="4B6B59"/>
          </a:solidFill>
          <a:ln w="12700">
            <a:solidFill>
              <a:srgbClr val="4B6B59"/>
            </a:solidFill>
            <a:prstDash val="solid"/>
          </a:ln>
        </p:spPr>
        <p:txBody>
          <a:bodyPr/>
          <a:lstStyle/>
          <a:p>
            <a:endParaRPr lang="fr-FR"/>
          </a:p>
        </p:txBody>
      </p:sp>
      <p:sp>
        <p:nvSpPr>
          <p:cNvPr id="40" name="Shape 38"/>
          <p:cNvSpPr/>
          <p:nvPr/>
        </p:nvSpPr>
        <p:spPr>
          <a:xfrm>
            <a:off x="6254496" y="2569464"/>
            <a:ext cx="292608" cy="292608"/>
          </a:xfrm>
          <a:prstGeom prst="ellipse">
            <a:avLst/>
          </a:prstGeom>
          <a:solidFill>
            <a:srgbClr val="4B6B59"/>
          </a:solidFill>
          <a:ln w="12700">
            <a:solidFill>
              <a:srgbClr val="4B6B59"/>
            </a:solidFill>
            <a:prstDash val="solid"/>
          </a:ln>
        </p:spPr>
        <p:txBody>
          <a:bodyPr/>
          <a:lstStyle/>
          <a:p>
            <a:endParaRPr lang="fr-FR"/>
          </a:p>
        </p:txBody>
      </p:sp>
      <p:sp>
        <p:nvSpPr>
          <p:cNvPr id="41" name="Text 39"/>
          <p:cNvSpPr/>
          <p:nvPr/>
        </p:nvSpPr>
        <p:spPr>
          <a:xfrm>
            <a:off x="6254496" y="25694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2" name="Text 40"/>
          <p:cNvSpPr/>
          <p:nvPr/>
        </p:nvSpPr>
        <p:spPr>
          <a:xfrm>
            <a:off x="6620256" y="2560320"/>
            <a:ext cx="2011680" cy="274320"/>
          </a:xfrm>
          <a:prstGeom prst="rect">
            <a:avLst/>
          </a:prstGeom>
          <a:noFill/>
          <a:ln/>
        </p:spPr>
        <p:txBody>
          <a:bodyPr wrap="square" lIns="0" tIns="0" rIns="0" bIns="0" rtlCol="0" anchor="ctr"/>
          <a:lstStyle/>
          <a:p>
            <a:pPr marL="0" indent="0">
              <a:buNone/>
            </a:pPr>
            <a:r>
              <a:rPr lang="en-US" sz="1250" b="1" dirty="0">
                <a:solidFill>
                  <a:srgbClr val="2C5F4A"/>
                </a:solidFill>
                <a:latin typeface="Calibri" pitchFamily="34" charset="0"/>
                <a:ea typeface="Calibri" pitchFamily="34" charset="-122"/>
                <a:cs typeface="Calibri" pitchFamily="34" charset="-120"/>
              </a:rPr>
              <a:t>Notification</a:t>
            </a:r>
            <a:endParaRPr lang="en-US" sz="1250" dirty="0"/>
          </a:p>
        </p:txBody>
      </p:sp>
      <p:sp>
        <p:nvSpPr>
          <p:cNvPr id="43" name="Text 41"/>
          <p:cNvSpPr/>
          <p:nvPr/>
        </p:nvSpPr>
        <p:spPr>
          <a:xfrm>
            <a:off x="6272784" y="2898648"/>
            <a:ext cx="2377440" cy="502920"/>
          </a:xfrm>
          <a:prstGeom prst="rect">
            <a:avLst/>
          </a:prstGeom>
          <a:noFill/>
          <a:ln/>
        </p:spPr>
        <p:txBody>
          <a:bodyPr wrap="square" lIns="0" tIns="0" rIns="0" bIns="0" rtlCol="0" anchor="ctr"/>
          <a:lstStyle/>
          <a:p>
            <a:pPr marL="0" indent="0">
              <a:buNone/>
            </a:pPr>
            <a:r>
              <a:rPr lang="en-US" sz="1000" dirty="0">
                <a:solidFill>
                  <a:srgbClr val="1F2A24"/>
                </a:solidFill>
                <a:latin typeface="Calibri" pitchFamily="34" charset="0"/>
                <a:ea typeface="Calibri" pitchFamily="34" charset="-122"/>
                <a:cs typeface="Calibri" pitchFamily="34" charset="-120"/>
              </a:rPr>
              <a:t>CNIL sous 72 h si des données personnelles sont touchées</a:t>
            </a:r>
            <a:endParaRPr lang="en-US" sz="1000" dirty="0"/>
          </a:p>
        </p:txBody>
      </p:sp>
      <p:sp>
        <p:nvSpPr>
          <p:cNvPr id="44" name="Shape 42"/>
          <p:cNvSpPr/>
          <p:nvPr/>
        </p:nvSpPr>
        <p:spPr>
          <a:xfrm>
            <a:off x="365760" y="3611880"/>
            <a:ext cx="8412480" cy="960120"/>
          </a:xfrm>
          <a:prstGeom prst="rect">
            <a:avLst/>
          </a:prstGeom>
          <a:solidFill>
            <a:srgbClr val="F7FAF6"/>
          </a:solidFill>
          <a:ln w="12700">
            <a:solidFill>
              <a:srgbClr val="F7FAF6"/>
            </a:solidFill>
            <a:prstDash val="solid"/>
          </a:ln>
        </p:spPr>
        <p:txBody>
          <a:bodyPr/>
          <a:lstStyle/>
          <a:p>
            <a:endParaRPr lang="fr-FR"/>
          </a:p>
        </p:txBody>
      </p:sp>
      <p:sp>
        <p:nvSpPr>
          <p:cNvPr id="45" name="Shape 43"/>
          <p:cNvSpPr/>
          <p:nvPr/>
        </p:nvSpPr>
        <p:spPr>
          <a:xfrm>
            <a:off x="365760" y="3611880"/>
            <a:ext cx="54864" cy="960120"/>
          </a:xfrm>
          <a:prstGeom prst="rect">
            <a:avLst/>
          </a:prstGeom>
          <a:solidFill>
            <a:srgbClr val="4B6B59"/>
          </a:solidFill>
          <a:ln w="12700">
            <a:solidFill>
              <a:srgbClr val="4B6B59"/>
            </a:solidFill>
            <a:prstDash val="solid"/>
          </a:ln>
        </p:spPr>
        <p:txBody>
          <a:bodyPr/>
          <a:lstStyle/>
          <a:p>
            <a:endParaRPr lang="fr-FR"/>
          </a:p>
        </p:txBody>
      </p:sp>
      <p:sp>
        <p:nvSpPr>
          <p:cNvPr id="46" name="Text 44"/>
          <p:cNvSpPr/>
          <p:nvPr/>
        </p:nvSpPr>
        <p:spPr>
          <a:xfrm>
            <a:off x="566928" y="3685032"/>
            <a:ext cx="4114800" cy="237744"/>
          </a:xfrm>
          <a:prstGeom prst="rect">
            <a:avLst/>
          </a:prstGeom>
          <a:noFill/>
          <a:ln/>
        </p:spPr>
        <p:txBody>
          <a:bodyPr wrap="square" lIns="0" tIns="0" rIns="0" bIns="0" rtlCol="0" anchor="ctr"/>
          <a:lstStyle/>
          <a:p>
            <a:pPr marL="0" indent="0">
              <a:buNone/>
            </a:pPr>
            <a:r>
              <a:rPr lang="en-US" sz="1250" b="1" dirty="0">
                <a:solidFill>
                  <a:srgbClr val="4B6B59"/>
                </a:solidFill>
                <a:latin typeface="Calibri" pitchFamily="34" charset="0"/>
                <a:ea typeface="Calibri" pitchFamily="34" charset="-122"/>
                <a:cs typeface="Calibri" pitchFamily="34" charset="-120"/>
              </a:rPr>
              <a:t>Bonnes pratiques de développement</a:t>
            </a:r>
            <a:endParaRPr lang="en-US" sz="1250" dirty="0"/>
          </a:p>
        </p:txBody>
      </p:sp>
      <p:sp>
        <p:nvSpPr>
          <p:cNvPr id="47" name="Text 45"/>
          <p:cNvSpPr/>
          <p:nvPr/>
        </p:nvSpPr>
        <p:spPr>
          <a:xfrm>
            <a:off x="566928" y="3950208"/>
            <a:ext cx="8046720" cy="548640"/>
          </a:xfrm>
          <a:prstGeom prst="rect">
            <a:avLst/>
          </a:prstGeom>
          <a:noFill/>
          <a:ln/>
        </p:spPr>
        <p:txBody>
          <a:bodyPr wrap="square" lIns="0" tIns="0" rIns="0" bIns="0" rtlCol="0" anchor="ctr"/>
          <a:lstStyle/>
          <a:p>
            <a:pPr marL="0" indent="0">
              <a:buNone/>
            </a:pPr>
            <a:r>
              <a:rPr lang="en-US" sz="1100" dirty="0">
                <a:solidFill>
                  <a:srgbClr val="1F2A24"/>
                </a:solidFill>
                <a:latin typeface="Calibri" pitchFamily="34" charset="0"/>
                <a:ea typeface="Calibri" pitchFamily="34" charset="-122"/>
                <a:cs typeface="Calibri" pitchFamily="34" charset="-120"/>
              </a:rPr>
              <a:t>Analyse statique SonarCloud · architecture en couches (controller / service / repository) · Conventional Commits · revue systématique par pull request · API documentée sous Swagger (désactivé en production) · tests unitaires, d'intégration et fonctionnels.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4B6B59"/>
        </a:solidFill>
        <a:effectLst/>
      </p:bgPr>
    </p:bg>
    <p:spTree>
      <p:nvGrpSpPr>
        <p:cNvPr id="1" name=""/>
        <p:cNvGrpSpPr/>
        <p:nvPr/>
      </p:nvGrpSpPr>
      <p:grpSpPr>
        <a:xfrm>
          <a:off x="0" y="0"/>
          <a:ext cx="0" cy="0"/>
          <a:chOff x="0" y="0"/>
          <a:chExt cx="0" cy="0"/>
        </a:xfrm>
      </p:grpSpPr>
      <p:sp>
        <p:nvSpPr>
          <p:cNvPr id="2" name="Text 0"/>
          <p:cNvSpPr/>
          <p:nvPr/>
        </p:nvSpPr>
        <p:spPr>
          <a:xfrm>
            <a:off x="548640" y="1371600"/>
            <a:ext cx="8046720" cy="73152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CESIZen</a:t>
            </a:r>
            <a:endParaRPr lang="en-US" sz="4000" dirty="0"/>
          </a:p>
        </p:txBody>
      </p:sp>
      <p:sp>
        <p:nvSpPr>
          <p:cNvPr id="3" name="Text 1"/>
          <p:cNvSpPr/>
          <p:nvPr/>
        </p:nvSpPr>
        <p:spPr>
          <a:xfrm>
            <a:off x="548640" y="2148840"/>
            <a:ext cx="8046720" cy="457200"/>
          </a:xfrm>
          <a:prstGeom prst="rect">
            <a:avLst/>
          </a:prstGeom>
          <a:noFill/>
          <a:ln/>
        </p:spPr>
        <p:txBody>
          <a:bodyPr wrap="square" lIns="0" tIns="0" rIns="0" bIns="0" rtlCol="0" anchor="ctr"/>
          <a:lstStyle/>
          <a:p>
            <a:pPr marL="0" indent="0" algn="ctr">
              <a:buNone/>
            </a:pPr>
            <a:r>
              <a:rPr lang="en-US" sz="2000" dirty="0">
                <a:solidFill>
                  <a:srgbClr val="A8DADC"/>
                </a:solidFill>
                <a:latin typeface="Calibri" pitchFamily="34" charset="0"/>
                <a:ea typeface="Calibri" pitchFamily="34" charset="-122"/>
                <a:cs typeface="Calibri" pitchFamily="34" charset="-120"/>
              </a:rPr>
              <a:t>Merci de votre attention</a:t>
            </a:r>
            <a:endParaRPr lang="en-US" sz="2000" dirty="0"/>
          </a:p>
        </p:txBody>
      </p:sp>
      <p:sp>
        <p:nvSpPr>
          <p:cNvPr id="4" name="Text 2"/>
          <p:cNvSpPr/>
          <p:nvPr/>
        </p:nvSpPr>
        <p:spPr>
          <a:xfrm>
            <a:off x="548640" y="2743200"/>
            <a:ext cx="8046720"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Des questions ?</a:t>
            </a:r>
            <a:endParaRPr lang="en-US" sz="3000" dirty="0"/>
          </a:p>
        </p:txBody>
      </p:sp>
      <p:sp>
        <p:nvSpPr>
          <p:cNvPr id="5" name="Shape 3"/>
          <p:cNvSpPr/>
          <p:nvPr/>
        </p:nvSpPr>
        <p:spPr>
          <a:xfrm>
            <a:off x="402336" y="3886200"/>
            <a:ext cx="1298448" cy="329184"/>
          </a:xfrm>
          <a:prstGeom prst="roundRect">
            <a:avLst>
              <a:gd name="adj" fmla="val 19444"/>
            </a:avLst>
          </a:prstGeom>
          <a:solidFill>
            <a:srgbClr val="3D5A4A"/>
          </a:solidFill>
          <a:ln w="12700">
            <a:solidFill>
              <a:srgbClr val="3D5A4A"/>
            </a:solidFill>
            <a:prstDash val="solid"/>
          </a:ln>
        </p:spPr>
        <p:txBody>
          <a:bodyPr/>
          <a:lstStyle/>
          <a:p>
            <a:endParaRPr lang="fr-FR"/>
          </a:p>
        </p:txBody>
      </p:sp>
      <p:sp>
        <p:nvSpPr>
          <p:cNvPr id="6" name="Text 4"/>
          <p:cNvSpPr/>
          <p:nvPr/>
        </p:nvSpPr>
        <p:spPr>
          <a:xfrm>
            <a:off x="402336" y="3886200"/>
            <a:ext cx="1298448" cy="32918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Spring Boot 4</a:t>
            </a:r>
            <a:endParaRPr lang="en-US" sz="950" dirty="0"/>
          </a:p>
        </p:txBody>
      </p:sp>
      <p:sp>
        <p:nvSpPr>
          <p:cNvPr id="7" name="Shape 5"/>
          <p:cNvSpPr/>
          <p:nvPr/>
        </p:nvSpPr>
        <p:spPr>
          <a:xfrm>
            <a:off x="1810512" y="3886200"/>
            <a:ext cx="1298448" cy="329184"/>
          </a:xfrm>
          <a:prstGeom prst="roundRect">
            <a:avLst>
              <a:gd name="adj" fmla="val 19444"/>
            </a:avLst>
          </a:prstGeom>
          <a:solidFill>
            <a:srgbClr val="3D5A4A"/>
          </a:solidFill>
          <a:ln w="12700">
            <a:solidFill>
              <a:srgbClr val="3D5A4A"/>
            </a:solidFill>
            <a:prstDash val="solid"/>
          </a:ln>
        </p:spPr>
        <p:txBody>
          <a:bodyPr/>
          <a:lstStyle/>
          <a:p>
            <a:endParaRPr lang="fr-FR"/>
          </a:p>
        </p:txBody>
      </p:sp>
      <p:sp>
        <p:nvSpPr>
          <p:cNvPr id="8" name="Text 6"/>
          <p:cNvSpPr/>
          <p:nvPr/>
        </p:nvSpPr>
        <p:spPr>
          <a:xfrm>
            <a:off x="1810512" y="3886200"/>
            <a:ext cx="1298448" cy="32918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Next.js 16</a:t>
            </a:r>
            <a:endParaRPr lang="en-US" sz="950" dirty="0"/>
          </a:p>
        </p:txBody>
      </p:sp>
      <p:sp>
        <p:nvSpPr>
          <p:cNvPr id="9" name="Shape 7"/>
          <p:cNvSpPr/>
          <p:nvPr/>
        </p:nvSpPr>
        <p:spPr>
          <a:xfrm>
            <a:off x="3218688" y="3886200"/>
            <a:ext cx="1298448" cy="329184"/>
          </a:xfrm>
          <a:prstGeom prst="roundRect">
            <a:avLst>
              <a:gd name="adj" fmla="val 19444"/>
            </a:avLst>
          </a:prstGeom>
          <a:solidFill>
            <a:srgbClr val="3D5A4A"/>
          </a:solidFill>
          <a:ln w="12700">
            <a:solidFill>
              <a:srgbClr val="3D5A4A"/>
            </a:solidFill>
            <a:prstDash val="solid"/>
          </a:ln>
        </p:spPr>
        <p:txBody>
          <a:bodyPr/>
          <a:lstStyle/>
          <a:p>
            <a:endParaRPr lang="fr-FR"/>
          </a:p>
        </p:txBody>
      </p:sp>
      <p:sp>
        <p:nvSpPr>
          <p:cNvPr id="10" name="Text 8"/>
          <p:cNvSpPr/>
          <p:nvPr/>
        </p:nvSpPr>
        <p:spPr>
          <a:xfrm>
            <a:off x="3218688" y="3886200"/>
            <a:ext cx="1298448" cy="32918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Flutter 3</a:t>
            </a:r>
            <a:endParaRPr lang="en-US" sz="950" dirty="0"/>
          </a:p>
        </p:txBody>
      </p:sp>
      <p:sp>
        <p:nvSpPr>
          <p:cNvPr id="11" name="Shape 9"/>
          <p:cNvSpPr/>
          <p:nvPr/>
        </p:nvSpPr>
        <p:spPr>
          <a:xfrm>
            <a:off x="4626864" y="3886200"/>
            <a:ext cx="1298448" cy="329184"/>
          </a:xfrm>
          <a:prstGeom prst="roundRect">
            <a:avLst>
              <a:gd name="adj" fmla="val 19444"/>
            </a:avLst>
          </a:prstGeom>
          <a:solidFill>
            <a:srgbClr val="3D5A4A"/>
          </a:solidFill>
          <a:ln w="12700">
            <a:solidFill>
              <a:srgbClr val="3D5A4A"/>
            </a:solidFill>
            <a:prstDash val="solid"/>
          </a:ln>
        </p:spPr>
        <p:txBody>
          <a:bodyPr/>
          <a:lstStyle/>
          <a:p>
            <a:endParaRPr lang="fr-FR"/>
          </a:p>
        </p:txBody>
      </p:sp>
      <p:sp>
        <p:nvSpPr>
          <p:cNvPr id="12" name="Text 10"/>
          <p:cNvSpPr/>
          <p:nvPr/>
        </p:nvSpPr>
        <p:spPr>
          <a:xfrm>
            <a:off x="4626864" y="3886200"/>
            <a:ext cx="1298448" cy="32918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Docker</a:t>
            </a:r>
            <a:endParaRPr lang="en-US" sz="950" dirty="0"/>
          </a:p>
        </p:txBody>
      </p:sp>
      <p:sp>
        <p:nvSpPr>
          <p:cNvPr id="13" name="Shape 11"/>
          <p:cNvSpPr/>
          <p:nvPr/>
        </p:nvSpPr>
        <p:spPr>
          <a:xfrm>
            <a:off x="6035040" y="3886200"/>
            <a:ext cx="1298448" cy="329184"/>
          </a:xfrm>
          <a:prstGeom prst="roundRect">
            <a:avLst>
              <a:gd name="adj" fmla="val 19444"/>
            </a:avLst>
          </a:prstGeom>
          <a:solidFill>
            <a:srgbClr val="3D5A4A"/>
          </a:solidFill>
          <a:ln w="12700">
            <a:solidFill>
              <a:srgbClr val="3D5A4A"/>
            </a:solidFill>
            <a:prstDash val="solid"/>
          </a:ln>
        </p:spPr>
        <p:txBody>
          <a:bodyPr/>
          <a:lstStyle/>
          <a:p>
            <a:endParaRPr lang="fr-FR"/>
          </a:p>
        </p:txBody>
      </p:sp>
      <p:sp>
        <p:nvSpPr>
          <p:cNvPr id="14" name="Text 12"/>
          <p:cNvSpPr/>
          <p:nvPr/>
        </p:nvSpPr>
        <p:spPr>
          <a:xfrm>
            <a:off x="6035040" y="3886200"/>
            <a:ext cx="1298448" cy="32918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GitHub Actions</a:t>
            </a:r>
            <a:endParaRPr lang="en-US" sz="950" dirty="0"/>
          </a:p>
        </p:txBody>
      </p:sp>
      <p:sp>
        <p:nvSpPr>
          <p:cNvPr id="15" name="Shape 13"/>
          <p:cNvSpPr/>
          <p:nvPr/>
        </p:nvSpPr>
        <p:spPr>
          <a:xfrm>
            <a:off x="7443216" y="3886200"/>
            <a:ext cx="1298448" cy="329184"/>
          </a:xfrm>
          <a:prstGeom prst="roundRect">
            <a:avLst>
              <a:gd name="adj" fmla="val 19444"/>
            </a:avLst>
          </a:prstGeom>
          <a:solidFill>
            <a:srgbClr val="3D5A4A"/>
          </a:solidFill>
          <a:ln w="12700">
            <a:solidFill>
              <a:srgbClr val="3D5A4A"/>
            </a:solidFill>
            <a:prstDash val="solid"/>
          </a:ln>
        </p:spPr>
        <p:txBody>
          <a:bodyPr/>
          <a:lstStyle/>
          <a:p>
            <a:endParaRPr lang="fr-FR"/>
          </a:p>
        </p:txBody>
      </p:sp>
      <p:sp>
        <p:nvSpPr>
          <p:cNvPr id="16" name="Text 14"/>
          <p:cNvSpPr/>
          <p:nvPr/>
        </p:nvSpPr>
        <p:spPr>
          <a:xfrm>
            <a:off x="7443216" y="3886200"/>
            <a:ext cx="1298448" cy="32918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Trivy</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239</TotalTime>
  <Words>4064</Words>
  <Application>Microsoft Office PowerPoint</Application>
  <PresentationFormat>On-screen Show (16:9)</PresentationFormat>
  <Paragraphs>412</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CESIZen — Soutenance Bloc 3</dc:title>
  <dc:subject>PptxGenJS Presentation</dc:subject>
  <dc:creator>Tom Doguet</dc:creator>
  <cp:lastModifiedBy>Tom Doguet</cp:lastModifiedBy>
  <cp:revision>2</cp:revision>
  <dcterms:created xsi:type="dcterms:W3CDTF">2026-07-21T06:54:44Z</dcterms:created>
  <dcterms:modified xsi:type="dcterms:W3CDTF">2026-07-21T10:54:38Z</dcterms:modified>
</cp:coreProperties>
</file>